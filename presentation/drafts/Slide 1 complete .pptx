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Arimo Bold" panose="020B0604020202020204" charset="0"/>
      <p:regular r:id="rId18"/>
    </p:embeddedFont>
    <p:embeddedFont>
      <p:font typeface="Calibri (MS)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Garamond Bold" panose="02020804030307010803" pitchFamily="18" charset="0"/>
      <p:regular r:id="rId21"/>
      <p:bold r:id="rId22"/>
    </p:embeddedFont>
    <p:embeddedFont>
      <p:font typeface="Times New Roman Bold" panose="02020803070505020304" pitchFamily="18" charset="0"/>
      <p:regular r:id="rId23"/>
      <p:bold r:id="rId24"/>
    </p:embeddedFont>
    <p:embeddedFont>
      <p:font typeface="Trade Gothic Condensed" panose="020B0604020202020204" charset="0"/>
      <p:regular r:id="rId25"/>
    </p:embeddedFont>
    <p:embeddedFont>
      <p:font typeface="Trade Gothic Condensed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FD80A-6483-49EF-3D23-AF72B4382026}" v="253" dt="2026-09-06T06:20:53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4209" y="159202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87333" y="3153600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144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Calibri"/>
                <a:cs typeface="Times New Roman Bold"/>
              </a:rPr>
              <a:t>TECH TIDE &lt;/&gt;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1668" y="-574790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87153" y="1756906"/>
            <a:ext cx="11404074" cy="7936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651510" lvl="1" indent="-325755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SIH26040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200" dirty="0">
                <a:solidFill>
                  <a:srgbClr val="000000"/>
                </a:solidFill>
                <a:latin typeface="Arial Bold"/>
                <a:ea typeface="+mn-lt"/>
                <a:cs typeface="Arial Bold"/>
                <a:sym typeface="Arial Bold"/>
              </a:rPr>
              <a:t>Smart Water Purification and Quality Monitoring System for Rural and Mining-Affected Areas.</a:t>
            </a:r>
            <a:endParaRPr lang="en-US" sz="3200" dirty="0">
              <a:solidFill>
                <a:srgbClr val="000000"/>
              </a:solidFill>
              <a:latin typeface="Arial Bold"/>
              <a:ea typeface="+mn-lt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 </a:t>
            </a:r>
            <a:r>
              <a:rPr lang="en-US" sz="3600" dirty="0">
                <a:solidFill>
                  <a:srgbClr val="212529"/>
                </a:solidFill>
                <a:latin typeface="Arial Bold"/>
                <a:ea typeface="+mn-lt"/>
                <a:cs typeface="Arial Bold"/>
                <a:sym typeface="Arial Bold"/>
              </a:rPr>
              <a:t>Clean &amp; Green Technology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Tech Tide &lt;/&gt;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" y="1862126"/>
            <a:ext cx="18152392" cy="394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0948" lvl="1" indent="-435474" algn="l">
              <a:lnSpc>
                <a:spcPts val="5775"/>
              </a:lnSpc>
              <a:buFont typeface="Arial"/>
              <a:buChar char="•"/>
            </a:pPr>
            <a:r>
              <a:rPr lang="en-US" sz="4812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marL="762080" lvl="1" indent="-381040" algn="l">
              <a:lnSpc>
                <a:spcPts val="5053"/>
              </a:lnSpc>
            </a:pPr>
            <a:endParaRPr lang="en-US" sz="4812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62080" lvl="1" indent="-381040" algn="l">
              <a:lnSpc>
                <a:spcPts val="5053"/>
              </a:lnSpc>
            </a:pPr>
            <a:endParaRPr lang="en-US" sz="4812" b="1" u="sng">
              <a:solidFill>
                <a:srgbClr val="1F497D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762080" lvl="1" indent="-381040" algn="just">
              <a:lnSpc>
                <a:spcPts val="5053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marL="762080" lvl="1" indent="-381040" algn="just">
              <a:lnSpc>
                <a:spcPts val="5053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marL="762080" lvl="1" indent="-381040" algn="just">
              <a:lnSpc>
                <a:spcPts val="5053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15117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739312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710" b="-2097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759963"/>
            <a:ext cx="4806001" cy="432582"/>
            <a:chOff x="0" y="0"/>
            <a:chExt cx="6408001" cy="5767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576776"/>
            </a:xfrm>
            <a:custGeom>
              <a:avLst/>
              <a:gdLst/>
              <a:ahLst/>
              <a:cxnLst/>
              <a:rect l="l" t="t" r="r" b="b"/>
              <a:pathLst>
                <a:path w="6408000" h="576776">
                  <a:moveTo>
                    <a:pt x="0" y="0"/>
                  </a:moveTo>
                  <a:lnTo>
                    <a:pt x="6408000" y="0"/>
                  </a:lnTo>
                  <a:lnTo>
                    <a:pt x="6408000" y="576776"/>
                  </a:lnTo>
                  <a:lnTo>
                    <a:pt x="0" y="5767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3174" b="-17978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8001" cy="614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45952" y="0"/>
            <a:ext cx="2442048" cy="1153088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0" y="0"/>
            <a:ext cx="3087381" cy="1645406"/>
          </a:xfrm>
          <a:custGeom>
            <a:avLst/>
            <a:gdLst/>
            <a:ahLst/>
            <a:cxnLst/>
            <a:rect l="l" t="t" r="r" b="b"/>
            <a:pathLst>
              <a:path w="3087381" h="1645406">
                <a:moveTo>
                  <a:pt x="0" y="0"/>
                </a:moveTo>
                <a:lnTo>
                  <a:pt x="3087381" y="0"/>
                </a:lnTo>
                <a:lnTo>
                  <a:pt x="3087381" y="1645406"/>
                </a:lnTo>
                <a:lnTo>
                  <a:pt x="0" y="164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9557523" y="1809671"/>
            <a:ext cx="8650336" cy="2755393"/>
            <a:chOff x="0" y="0"/>
            <a:chExt cx="11533782" cy="367385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1533782" cy="3673857"/>
              <a:chOff x="0" y="0"/>
              <a:chExt cx="2278278" cy="7257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278278" cy="725700"/>
              </a:xfrm>
              <a:custGeom>
                <a:avLst/>
                <a:gdLst/>
                <a:ahLst/>
                <a:cxnLst/>
                <a:rect l="l" t="t" r="r" b="b"/>
                <a:pathLst>
                  <a:path w="2278278" h="725700">
                    <a:moveTo>
                      <a:pt x="13425" y="0"/>
                    </a:moveTo>
                    <a:lnTo>
                      <a:pt x="2264853" y="0"/>
                    </a:lnTo>
                    <a:cubicBezTo>
                      <a:pt x="2272267" y="0"/>
                      <a:pt x="2278278" y="6010"/>
                      <a:pt x="2278278" y="13425"/>
                    </a:cubicBezTo>
                    <a:lnTo>
                      <a:pt x="2278278" y="712275"/>
                    </a:lnTo>
                    <a:cubicBezTo>
                      <a:pt x="2278278" y="715836"/>
                      <a:pt x="2276863" y="719250"/>
                      <a:pt x="2274346" y="721768"/>
                    </a:cubicBezTo>
                    <a:cubicBezTo>
                      <a:pt x="2271828" y="724286"/>
                      <a:pt x="2268413" y="725700"/>
                      <a:pt x="2264853" y="725700"/>
                    </a:cubicBezTo>
                    <a:lnTo>
                      <a:pt x="13425" y="725700"/>
                    </a:lnTo>
                    <a:cubicBezTo>
                      <a:pt x="9864" y="725700"/>
                      <a:pt x="6450" y="724286"/>
                      <a:pt x="3932" y="721768"/>
                    </a:cubicBezTo>
                    <a:cubicBezTo>
                      <a:pt x="1414" y="719250"/>
                      <a:pt x="0" y="715836"/>
                      <a:pt x="0" y="712275"/>
                    </a:cubicBezTo>
                    <a:lnTo>
                      <a:pt x="0" y="13425"/>
                    </a:lnTo>
                    <a:cubicBezTo>
                      <a:pt x="0" y="9864"/>
                      <a:pt x="1414" y="6450"/>
                      <a:pt x="3932" y="3932"/>
                    </a:cubicBezTo>
                    <a:cubicBezTo>
                      <a:pt x="6450" y="1414"/>
                      <a:pt x="9864" y="0"/>
                      <a:pt x="13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2278278" cy="74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86535" y="180289"/>
              <a:ext cx="10997338" cy="3294175"/>
              <a:chOff x="0" y="0"/>
              <a:chExt cx="2064223" cy="6183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64223" cy="618323"/>
              </a:xfrm>
              <a:custGeom>
                <a:avLst/>
                <a:gdLst/>
                <a:ahLst/>
                <a:cxnLst/>
                <a:rect l="l" t="t" r="r" b="b"/>
                <a:pathLst>
                  <a:path w="2064223" h="618323">
                    <a:moveTo>
                      <a:pt x="939" y="0"/>
                    </a:moveTo>
                    <a:lnTo>
                      <a:pt x="2063284" y="0"/>
                    </a:lnTo>
                    <a:cubicBezTo>
                      <a:pt x="2063533" y="0"/>
                      <a:pt x="2063772" y="99"/>
                      <a:pt x="2063948" y="275"/>
                    </a:cubicBezTo>
                    <a:cubicBezTo>
                      <a:pt x="2064124" y="451"/>
                      <a:pt x="2064223" y="690"/>
                      <a:pt x="2064223" y="939"/>
                    </a:cubicBezTo>
                    <a:lnTo>
                      <a:pt x="2064223" y="617385"/>
                    </a:lnTo>
                    <a:cubicBezTo>
                      <a:pt x="2064223" y="617634"/>
                      <a:pt x="2064124" y="617872"/>
                      <a:pt x="2063948" y="618048"/>
                    </a:cubicBezTo>
                    <a:cubicBezTo>
                      <a:pt x="2063772" y="618224"/>
                      <a:pt x="2063533" y="618323"/>
                      <a:pt x="2063284" y="618323"/>
                    </a:cubicBezTo>
                    <a:lnTo>
                      <a:pt x="939" y="618323"/>
                    </a:lnTo>
                    <a:cubicBezTo>
                      <a:pt x="690" y="618323"/>
                      <a:pt x="451" y="618224"/>
                      <a:pt x="275" y="618048"/>
                    </a:cubicBezTo>
                    <a:cubicBezTo>
                      <a:pt x="99" y="617872"/>
                      <a:pt x="0" y="617634"/>
                      <a:pt x="0" y="617385"/>
                    </a:cubicBezTo>
                    <a:lnTo>
                      <a:pt x="0" y="939"/>
                    </a:lnTo>
                    <a:cubicBezTo>
                      <a:pt x="0" y="690"/>
                      <a:pt x="99" y="451"/>
                      <a:pt x="275" y="275"/>
                    </a:cubicBezTo>
                    <a:cubicBezTo>
                      <a:pt x="451" y="99"/>
                      <a:pt x="690" y="0"/>
                      <a:pt x="9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2064223" cy="637373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133773" y="1809671"/>
            <a:ext cx="9241528" cy="2755393"/>
            <a:chOff x="0" y="0"/>
            <a:chExt cx="12322037" cy="367385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2322037" cy="3673857"/>
              <a:chOff x="0" y="0"/>
              <a:chExt cx="2433983" cy="725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433983" cy="725700"/>
              </a:xfrm>
              <a:custGeom>
                <a:avLst/>
                <a:gdLst/>
                <a:ahLst/>
                <a:cxnLst/>
                <a:rect l="l" t="t" r="r" b="b"/>
                <a:pathLst>
                  <a:path w="2433983" h="725700">
                    <a:moveTo>
                      <a:pt x="12566" y="0"/>
                    </a:moveTo>
                    <a:lnTo>
                      <a:pt x="2421417" y="0"/>
                    </a:lnTo>
                    <a:cubicBezTo>
                      <a:pt x="2428357" y="0"/>
                      <a:pt x="2433983" y="5626"/>
                      <a:pt x="2433983" y="12566"/>
                    </a:cubicBezTo>
                    <a:lnTo>
                      <a:pt x="2433983" y="713134"/>
                    </a:lnTo>
                    <a:cubicBezTo>
                      <a:pt x="2433983" y="716467"/>
                      <a:pt x="2432659" y="719663"/>
                      <a:pt x="2430302" y="722020"/>
                    </a:cubicBezTo>
                    <a:cubicBezTo>
                      <a:pt x="2427946" y="724376"/>
                      <a:pt x="2424749" y="725700"/>
                      <a:pt x="2421417" y="725700"/>
                    </a:cubicBezTo>
                    <a:lnTo>
                      <a:pt x="12566" y="725700"/>
                    </a:lnTo>
                    <a:cubicBezTo>
                      <a:pt x="9233" y="725700"/>
                      <a:pt x="6037" y="724376"/>
                      <a:pt x="3680" y="722020"/>
                    </a:cubicBezTo>
                    <a:cubicBezTo>
                      <a:pt x="1324" y="719663"/>
                      <a:pt x="0" y="716467"/>
                      <a:pt x="0" y="713134"/>
                    </a:cubicBezTo>
                    <a:lnTo>
                      <a:pt x="0" y="12566"/>
                    </a:lnTo>
                    <a:cubicBezTo>
                      <a:pt x="0" y="9233"/>
                      <a:pt x="1324" y="6037"/>
                      <a:pt x="3680" y="3680"/>
                    </a:cubicBezTo>
                    <a:cubicBezTo>
                      <a:pt x="6037" y="1324"/>
                      <a:pt x="9233" y="0"/>
                      <a:pt x="125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2433983" cy="74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06118" y="180289"/>
              <a:ext cx="11748931" cy="3294175"/>
              <a:chOff x="0" y="0"/>
              <a:chExt cx="2205298" cy="6183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205298" cy="618323"/>
              </a:xfrm>
              <a:custGeom>
                <a:avLst/>
                <a:gdLst/>
                <a:ahLst/>
                <a:cxnLst/>
                <a:rect l="l" t="t" r="r" b="b"/>
                <a:pathLst>
                  <a:path w="2205298" h="618323">
                    <a:moveTo>
                      <a:pt x="879" y="0"/>
                    </a:moveTo>
                    <a:lnTo>
                      <a:pt x="2204420" y="0"/>
                    </a:lnTo>
                    <a:cubicBezTo>
                      <a:pt x="2204905" y="0"/>
                      <a:pt x="2205298" y="393"/>
                      <a:pt x="2205298" y="879"/>
                    </a:cubicBezTo>
                    <a:lnTo>
                      <a:pt x="2205298" y="617445"/>
                    </a:lnTo>
                    <a:cubicBezTo>
                      <a:pt x="2205298" y="617678"/>
                      <a:pt x="2205206" y="617901"/>
                      <a:pt x="2205041" y="618066"/>
                    </a:cubicBezTo>
                    <a:cubicBezTo>
                      <a:pt x="2204876" y="618231"/>
                      <a:pt x="2204653" y="618323"/>
                      <a:pt x="2204420" y="618323"/>
                    </a:cubicBezTo>
                    <a:lnTo>
                      <a:pt x="879" y="618323"/>
                    </a:lnTo>
                    <a:cubicBezTo>
                      <a:pt x="393" y="618323"/>
                      <a:pt x="0" y="617930"/>
                      <a:pt x="0" y="617445"/>
                    </a:cubicBezTo>
                    <a:lnTo>
                      <a:pt x="0" y="879"/>
                    </a:lnTo>
                    <a:cubicBezTo>
                      <a:pt x="0" y="393"/>
                      <a:pt x="393" y="0"/>
                      <a:pt x="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2205298" cy="637373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178695" y="4898439"/>
            <a:ext cx="9196605" cy="4840874"/>
            <a:chOff x="0" y="0"/>
            <a:chExt cx="12262140" cy="6454498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2262140" cy="6454498"/>
              <a:chOff x="0" y="0"/>
              <a:chExt cx="2422151" cy="127496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422151" cy="1274963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04630" y="316745"/>
              <a:ext cx="11691820" cy="5787446"/>
              <a:chOff x="0" y="0"/>
              <a:chExt cx="2194578" cy="108631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194578" cy="1086315"/>
              </a:xfrm>
              <a:custGeom>
                <a:avLst/>
                <a:gdLst/>
                <a:ahLst/>
                <a:cxnLst/>
                <a:rect l="l" t="t" r="r" b="b"/>
                <a:pathLst>
                  <a:path w="2194578" h="1086315">
                    <a:moveTo>
                      <a:pt x="883" y="0"/>
                    </a:moveTo>
                    <a:lnTo>
                      <a:pt x="2193696" y="0"/>
                    </a:lnTo>
                    <a:cubicBezTo>
                      <a:pt x="2193930" y="0"/>
                      <a:pt x="2194154" y="93"/>
                      <a:pt x="2194320" y="259"/>
                    </a:cubicBezTo>
                    <a:cubicBezTo>
                      <a:pt x="2194485" y="424"/>
                      <a:pt x="2194578" y="649"/>
                      <a:pt x="2194578" y="883"/>
                    </a:cubicBezTo>
                    <a:lnTo>
                      <a:pt x="2194578" y="1085432"/>
                    </a:lnTo>
                    <a:cubicBezTo>
                      <a:pt x="2194578" y="1085920"/>
                      <a:pt x="2194183" y="1086315"/>
                      <a:pt x="2193696" y="1086315"/>
                    </a:cubicBezTo>
                    <a:lnTo>
                      <a:pt x="883" y="1086315"/>
                    </a:lnTo>
                    <a:cubicBezTo>
                      <a:pt x="395" y="1086315"/>
                      <a:pt x="0" y="1085920"/>
                      <a:pt x="0" y="1085432"/>
                    </a:cubicBezTo>
                    <a:lnTo>
                      <a:pt x="0" y="883"/>
                    </a:lnTo>
                    <a:cubicBezTo>
                      <a:pt x="0" y="395"/>
                      <a:pt x="395" y="0"/>
                      <a:pt x="8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19050"/>
                <a:ext cx="2194578" cy="1105365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sp>
        <p:nvSpPr>
          <p:cNvPr id="34" name="Freeform 34"/>
          <p:cNvSpPr/>
          <p:nvPr/>
        </p:nvSpPr>
        <p:spPr>
          <a:xfrm>
            <a:off x="9557523" y="4544414"/>
            <a:ext cx="2792852" cy="5270703"/>
          </a:xfrm>
          <a:custGeom>
            <a:avLst/>
            <a:gdLst/>
            <a:ahLst/>
            <a:cxnLst/>
            <a:rect l="l" t="t" r="r" b="b"/>
            <a:pathLst>
              <a:path w="2792852" h="5270703">
                <a:moveTo>
                  <a:pt x="0" y="0"/>
                </a:moveTo>
                <a:lnTo>
                  <a:pt x="2792852" y="0"/>
                </a:lnTo>
                <a:lnTo>
                  <a:pt x="2792852" y="5270703"/>
                </a:lnTo>
                <a:lnTo>
                  <a:pt x="0" y="5270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318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418063" y="92006"/>
            <a:ext cx="12821937" cy="138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9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WeatherGPT — AI-Powered Impact-Based </a:t>
            </a:r>
          </a:p>
          <a:p>
            <a:pPr algn="ctr">
              <a:lnSpc>
                <a:spcPts val="5550"/>
              </a:lnSpc>
            </a:pPr>
            <a:r>
              <a:rPr lang="en-US" sz="39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Weather Intelligence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02350" y="1845677"/>
            <a:ext cx="216946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Idea / Solution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-1523392" y="1836152"/>
            <a:ext cx="552549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2528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0" y="2426702"/>
            <a:ext cx="9144000" cy="19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237" lvl="1" indent="-278118" algn="l">
              <a:lnSpc>
                <a:spcPts val="3091"/>
              </a:lnSpc>
              <a:buFont typeface="Arial"/>
              <a:buChar char="•"/>
            </a:pPr>
            <a:r>
              <a:rPr lang="en-US" sz="25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</a:t>
            </a:r>
            <a:r>
              <a:rPr lang="en-US" sz="25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information is scattered</a:t>
            </a:r>
            <a:r>
              <a:rPr lang="en-US" sz="25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forecasts, warnings, bulletins, radar &amp; climate data, </a:t>
            </a:r>
            <a:r>
              <a:rPr lang="en-US" sz="25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making it difficult to obtain localized, understandable</a:t>
            </a:r>
            <a:r>
              <a:rPr lang="en-US" sz="25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actionable insights.</a:t>
            </a:r>
          </a:p>
          <a:p>
            <a:pPr marL="556237" lvl="1" indent="-278118" algn="l">
              <a:lnSpc>
                <a:spcPts val="3091"/>
              </a:lnSpc>
              <a:buFont typeface="Arial"/>
              <a:buChar char="•"/>
            </a:pPr>
            <a:r>
              <a:rPr lang="en-US" sz="25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report weather conditions, but </a:t>
            </a:r>
            <a:r>
              <a:rPr lang="en-US" sz="25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often fail to communicate local impact, risk and appropriate action.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99237" y="2260014"/>
            <a:ext cx="8430831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5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WeatherGPT fuses real-time weather APIs, Machine Learningbased risk prediction, </a:t>
            </a:r>
            <a:r>
              <a:rPr lang="en-US" sz="25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</a:t>
            </a:r>
            <a:r>
              <a:rPr lang="en-US" sz="25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(XAI), RAG and Large Language Models (LLMs) to </a:t>
            </a:r>
            <a:r>
              <a:rPr lang="en-US" sz="25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deliver localized, explainable weather alerts</a:t>
            </a:r>
            <a:r>
              <a:rPr lang="en-US" sz="25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actionable insights through a </a:t>
            </a:r>
            <a:r>
              <a:rPr lang="en-US" sz="25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multilingual conversational chatbot</a:t>
            </a:r>
            <a:r>
              <a:rPr lang="en-US" sz="25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interactive </a:t>
            </a:r>
            <a:r>
              <a:rPr lang="en-US" sz="25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</a:t>
            </a:r>
            <a:r>
              <a:rPr lang="en-US" sz="25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5070" y="5053013"/>
            <a:ext cx="8898934" cy="468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endParaRPr lang="en-US" sz="2200" b="1">
              <a:solidFill>
                <a:srgbClr val="1F497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Real-time Weather Intelligence: 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Unifies IMD/weather APIs, forecasts, warnings, rainfall &amp; historical data.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Risk Engine: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Machine Learning + geospatial data predicts localized hazard &amp; impact risk.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Explainable Risk Analysis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Explainable AI (XAI) reveals key risk factors with confidence scores.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Grounded Conversational AI: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Retrieval-Augmented Generation (RAG) + Large Language Models (LLMs) delivers contextual answers from verified weather advisories.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Multilingual Last-Mile Access: 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Location-aware chatbot + live dashboard + alerts provide localized forecasts, risk levels &amp; actionable guidance.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12350375" y="4650295"/>
            <a:ext cx="5779694" cy="5089018"/>
            <a:chOff x="0" y="0"/>
            <a:chExt cx="7706259" cy="6785357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7706259" cy="6785357"/>
              <a:chOff x="0" y="0"/>
              <a:chExt cx="1522224" cy="134031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522224" cy="1340317"/>
              </a:xfrm>
              <a:custGeom>
                <a:avLst/>
                <a:gdLst/>
                <a:ahLst/>
                <a:cxnLst/>
                <a:rect l="l" t="t" r="r" b="b"/>
                <a:pathLst>
                  <a:path w="1522224" h="1340317">
                    <a:moveTo>
                      <a:pt x="20093" y="0"/>
                    </a:moveTo>
                    <a:lnTo>
                      <a:pt x="1502131" y="0"/>
                    </a:lnTo>
                    <a:cubicBezTo>
                      <a:pt x="1513228" y="0"/>
                      <a:pt x="1522224" y="8996"/>
                      <a:pt x="1522224" y="20093"/>
                    </a:cubicBezTo>
                    <a:lnTo>
                      <a:pt x="1522224" y="1320225"/>
                    </a:lnTo>
                    <a:cubicBezTo>
                      <a:pt x="1522224" y="1331322"/>
                      <a:pt x="1513228" y="1340317"/>
                      <a:pt x="1502131" y="1340317"/>
                    </a:cubicBezTo>
                    <a:lnTo>
                      <a:pt x="20093" y="1340317"/>
                    </a:lnTo>
                    <a:cubicBezTo>
                      <a:pt x="8996" y="1340317"/>
                      <a:pt x="0" y="1331322"/>
                      <a:pt x="0" y="1320225"/>
                    </a:cubicBezTo>
                    <a:lnTo>
                      <a:pt x="0" y="20093"/>
                    </a:lnTo>
                    <a:cubicBezTo>
                      <a:pt x="0" y="8996"/>
                      <a:pt x="8996" y="0"/>
                      <a:pt x="200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1522224" cy="13593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91448" y="332981"/>
              <a:ext cx="7347836" cy="6084111"/>
              <a:chOff x="0" y="0"/>
              <a:chExt cx="1379204" cy="1142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379204" cy="1142000"/>
              </a:xfrm>
              <a:custGeom>
                <a:avLst/>
                <a:gdLst/>
                <a:ahLst/>
                <a:cxnLst/>
                <a:rect l="l" t="t" r="r" b="b"/>
                <a:pathLst>
                  <a:path w="1379204" h="1142000">
                    <a:moveTo>
                      <a:pt x="1405" y="0"/>
                    </a:moveTo>
                    <a:lnTo>
                      <a:pt x="1377799" y="0"/>
                    </a:lnTo>
                    <a:cubicBezTo>
                      <a:pt x="1378575" y="0"/>
                      <a:pt x="1379204" y="629"/>
                      <a:pt x="1379204" y="1405"/>
                    </a:cubicBezTo>
                    <a:lnTo>
                      <a:pt x="1379204" y="1140595"/>
                    </a:lnTo>
                    <a:cubicBezTo>
                      <a:pt x="1379204" y="1141371"/>
                      <a:pt x="1378575" y="1142000"/>
                      <a:pt x="1377799" y="1142000"/>
                    </a:cubicBezTo>
                    <a:lnTo>
                      <a:pt x="1405" y="1142000"/>
                    </a:lnTo>
                    <a:cubicBezTo>
                      <a:pt x="629" y="1142000"/>
                      <a:pt x="0" y="1141371"/>
                      <a:pt x="0" y="1140595"/>
                    </a:cubicBezTo>
                    <a:lnTo>
                      <a:pt x="0" y="1405"/>
                    </a:lnTo>
                    <a:cubicBezTo>
                      <a:pt x="0" y="629"/>
                      <a:pt x="629" y="0"/>
                      <a:pt x="1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19050"/>
                <a:ext cx="1379204" cy="1161050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2531350" y="4936246"/>
            <a:ext cx="5518080" cy="4227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 / UNIQUENESS</a:t>
            </a:r>
          </a:p>
          <a:p>
            <a:pPr algn="l">
              <a:lnSpc>
                <a:spcPts val="96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Impact-Based Weather Intelligence</a:t>
            </a:r>
          </a:p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forecasting: combines weather + geospatial vulnerability to predict localized hazard &amp; </a:t>
            </a:r>
            <a:r>
              <a:rPr lang="en-US" sz="1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risk, enabling proactive decisions.</a:t>
            </a:r>
          </a:p>
          <a:p>
            <a:pPr algn="l">
              <a:lnSpc>
                <a:spcPts val="2159"/>
              </a:lnSpc>
              <a:spcBef>
                <a:spcPct val="0"/>
              </a:spcBef>
            </a:pPr>
            <a:endParaRPr lang="en-US" sz="1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&amp; Trusted Weather AI</a:t>
            </a:r>
          </a:p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+ Explainable AI + RAG-LLM provides “Why this risk?” insights with verified meteorological sources, improving trust and reliability.</a:t>
            </a:r>
          </a:p>
          <a:p>
            <a:pPr algn="l">
              <a:lnSpc>
                <a:spcPts val="2159"/>
              </a:lnSpc>
              <a:spcBef>
                <a:spcPct val="0"/>
              </a:spcBef>
            </a:pPr>
            <a:endParaRPr lang="en-US" sz="1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Multilingual</a:t>
            </a: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Last-Mile </a:t>
            </a:r>
            <a:r>
              <a:rPr lang="en-US" sz="1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Early Warning</a:t>
            </a:r>
          </a:p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Location-aware chatbot +</a:t>
            </a:r>
            <a:r>
              <a:rPr lang="en-US" sz="1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live dashboard + alerts</a:t>
            </a: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complex forecasts into simple, local-language, actionable guidance for citizens and authorities.</a:t>
            </a:r>
          </a:p>
        </p:txBody>
      </p:sp>
      <p:sp>
        <p:nvSpPr>
          <p:cNvPr id="49" name="Freeform 49"/>
          <p:cNvSpPr/>
          <p:nvPr/>
        </p:nvSpPr>
        <p:spPr>
          <a:xfrm>
            <a:off x="7436079" y="4898439"/>
            <a:ext cx="3087381" cy="1645406"/>
          </a:xfrm>
          <a:custGeom>
            <a:avLst/>
            <a:gdLst/>
            <a:ahLst/>
            <a:cxnLst/>
            <a:rect l="l" t="t" r="r" b="b"/>
            <a:pathLst>
              <a:path w="3087381" h="1645406">
                <a:moveTo>
                  <a:pt x="0" y="0"/>
                </a:moveTo>
                <a:lnTo>
                  <a:pt x="3087380" y="0"/>
                </a:lnTo>
                <a:lnTo>
                  <a:pt x="3087380" y="1645406"/>
                </a:lnTo>
                <a:lnTo>
                  <a:pt x="0" y="1645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65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99256" y="-21998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25334" y="9739312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96831" y="9739312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2391499" cy="1274539"/>
          </a:xfrm>
          <a:custGeom>
            <a:avLst/>
            <a:gdLst/>
            <a:ahLst/>
            <a:cxnLst/>
            <a:rect l="l" t="t" r="r" b="b"/>
            <a:pathLst>
              <a:path w="2391499" h="1274539">
                <a:moveTo>
                  <a:pt x="0" y="0"/>
                </a:moveTo>
                <a:lnTo>
                  <a:pt x="2391499" y="0"/>
                </a:lnTo>
                <a:lnTo>
                  <a:pt x="2391499" y="1274539"/>
                </a:lnTo>
                <a:lnTo>
                  <a:pt x="0" y="1274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9290" y="1259346"/>
            <a:ext cx="13735081" cy="7998954"/>
          </a:xfrm>
          <a:custGeom>
            <a:avLst/>
            <a:gdLst/>
            <a:ahLst/>
            <a:cxnLst/>
            <a:rect l="l" t="t" r="r" b="b"/>
            <a:pathLst>
              <a:path w="13735081" h="7998954">
                <a:moveTo>
                  <a:pt x="0" y="0"/>
                </a:moveTo>
                <a:lnTo>
                  <a:pt x="13735081" y="0"/>
                </a:lnTo>
                <a:lnTo>
                  <a:pt x="13735081" y="7998954"/>
                </a:lnTo>
                <a:lnTo>
                  <a:pt x="0" y="7998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055" r="-326" b="-791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5350403" y="2248"/>
            <a:ext cx="2694500" cy="1272291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898731" y="1668055"/>
            <a:ext cx="4180532" cy="6983298"/>
            <a:chOff x="0" y="0"/>
            <a:chExt cx="5574043" cy="9311064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574043" cy="9311064"/>
              <a:chOff x="0" y="0"/>
              <a:chExt cx="1101045" cy="18392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01045" cy="1839222"/>
              </a:xfrm>
              <a:custGeom>
                <a:avLst/>
                <a:gdLst/>
                <a:ahLst/>
                <a:cxnLst/>
                <a:rect l="l" t="t" r="r" b="b"/>
                <a:pathLst>
                  <a:path w="1101045" h="1839222">
                    <a:moveTo>
                      <a:pt x="27778" y="0"/>
                    </a:moveTo>
                    <a:lnTo>
                      <a:pt x="1073267" y="0"/>
                    </a:lnTo>
                    <a:cubicBezTo>
                      <a:pt x="1080634" y="0"/>
                      <a:pt x="1087700" y="2927"/>
                      <a:pt x="1092909" y="8136"/>
                    </a:cubicBezTo>
                    <a:cubicBezTo>
                      <a:pt x="1098119" y="13346"/>
                      <a:pt x="1101045" y="20411"/>
                      <a:pt x="1101045" y="27778"/>
                    </a:cubicBezTo>
                    <a:lnTo>
                      <a:pt x="1101045" y="1811444"/>
                    </a:lnTo>
                    <a:cubicBezTo>
                      <a:pt x="1101045" y="1818811"/>
                      <a:pt x="1098119" y="1825877"/>
                      <a:pt x="1092909" y="1831086"/>
                    </a:cubicBezTo>
                    <a:cubicBezTo>
                      <a:pt x="1087700" y="1836296"/>
                      <a:pt x="1080634" y="1839222"/>
                      <a:pt x="1073267" y="1839222"/>
                    </a:cubicBezTo>
                    <a:lnTo>
                      <a:pt x="27778" y="1839222"/>
                    </a:lnTo>
                    <a:cubicBezTo>
                      <a:pt x="20411" y="1839222"/>
                      <a:pt x="13346" y="1836296"/>
                      <a:pt x="8136" y="1831086"/>
                    </a:cubicBezTo>
                    <a:cubicBezTo>
                      <a:pt x="2927" y="1825877"/>
                      <a:pt x="0" y="1818811"/>
                      <a:pt x="0" y="1811444"/>
                    </a:cubicBezTo>
                    <a:lnTo>
                      <a:pt x="0" y="27778"/>
                    </a:lnTo>
                    <a:cubicBezTo>
                      <a:pt x="0" y="20411"/>
                      <a:pt x="2927" y="13346"/>
                      <a:pt x="8136" y="8136"/>
                    </a:cubicBezTo>
                    <a:cubicBezTo>
                      <a:pt x="13346" y="2927"/>
                      <a:pt x="20411" y="0"/>
                      <a:pt x="277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1101045" cy="1858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38477" y="456926"/>
              <a:ext cx="5314790" cy="8348794"/>
              <a:chOff x="0" y="0"/>
              <a:chExt cx="997597" cy="156708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97597" cy="1567086"/>
              </a:xfrm>
              <a:custGeom>
                <a:avLst/>
                <a:gdLst/>
                <a:ahLst/>
                <a:cxnLst/>
                <a:rect l="l" t="t" r="r" b="b"/>
                <a:pathLst>
                  <a:path w="997597" h="1567086">
                    <a:moveTo>
                      <a:pt x="1942" y="0"/>
                    </a:moveTo>
                    <a:lnTo>
                      <a:pt x="995655" y="0"/>
                    </a:lnTo>
                    <a:cubicBezTo>
                      <a:pt x="996170" y="0"/>
                      <a:pt x="996664" y="205"/>
                      <a:pt x="997028" y="569"/>
                    </a:cubicBezTo>
                    <a:cubicBezTo>
                      <a:pt x="997392" y="933"/>
                      <a:pt x="997597" y="1427"/>
                      <a:pt x="997597" y="1942"/>
                    </a:cubicBezTo>
                    <a:lnTo>
                      <a:pt x="997597" y="1565143"/>
                    </a:lnTo>
                    <a:cubicBezTo>
                      <a:pt x="997597" y="1565658"/>
                      <a:pt x="997392" y="1566152"/>
                      <a:pt x="997028" y="1566517"/>
                    </a:cubicBezTo>
                    <a:cubicBezTo>
                      <a:pt x="996664" y="1566881"/>
                      <a:pt x="996170" y="1567086"/>
                      <a:pt x="995655" y="1567086"/>
                    </a:cubicBezTo>
                    <a:lnTo>
                      <a:pt x="1942" y="1567086"/>
                    </a:lnTo>
                    <a:cubicBezTo>
                      <a:pt x="870" y="1567086"/>
                      <a:pt x="0" y="1566216"/>
                      <a:pt x="0" y="1565143"/>
                    </a:cubicBezTo>
                    <a:lnTo>
                      <a:pt x="0" y="1942"/>
                    </a:lnTo>
                    <a:cubicBezTo>
                      <a:pt x="0" y="1427"/>
                      <a:pt x="205" y="933"/>
                      <a:pt x="569" y="569"/>
                    </a:cubicBezTo>
                    <a:cubicBezTo>
                      <a:pt x="933" y="205"/>
                      <a:pt x="1427" y="0"/>
                      <a:pt x="19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997597" cy="1586136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sp>
        <p:nvSpPr>
          <p:cNvPr id="24" name="Freeform 24"/>
          <p:cNvSpPr/>
          <p:nvPr/>
        </p:nvSpPr>
        <p:spPr>
          <a:xfrm>
            <a:off x="11802831" y="4681758"/>
            <a:ext cx="1732791" cy="923484"/>
          </a:xfrm>
          <a:custGeom>
            <a:avLst/>
            <a:gdLst/>
            <a:ahLst/>
            <a:cxnLst/>
            <a:rect l="l" t="t" r="r" b="b"/>
            <a:pathLst>
              <a:path w="1732791" h="923484">
                <a:moveTo>
                  <a:pt x="0" y="0"/>
                </a:moveTo>
                <a:lnTo>
                  <a:pt x="1732792" y="0"/>
                </a:lnTo>
                <a:lnTo>
                  <a:pt x="1732792" y="923484"/>
                </a:lnTo>
                <a:lnTo>
                  <a:pt x="0" y="923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7000"/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898731" y="2654641"/>
            <a:ext cx="4047540" cy="567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→ AI RISK IMD/Weather APIs + satellite/radar + historical data → real-time ingestion → ML-based localized hazard &amp; impact prediction with Explainable AI (XAI).</a:t>
            </a:r>
          </a:p>
          <a:p>
            <a:pPr algn="l">
              <a:lnSpc>
                <a:spcPts val="1560"/>
              </a:lnSpc>
            </a:pPr>
            <a:endParaRPr lang="en-US" sz="1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→ INTELLIGENCE RAG knowledge base + Large Language Model (LLM) combines predicted risk with verified weather bulletins/advisories to generate contextual, trustworthy responses.</a:t>
            </a:r>
          </a:p>
          <a:p>
            <a:pPr algn="l">
              <a:lnSpc>
                <a:spcPts val="1320"/>
              </a:lnSpc>
            </a:pPr>
            <a:endParaRPr lang="en-US" sz="1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→ ACTION Live dashboard + multilingual location-aware chatbot + alerts deliver risk maps, explainable warnings and actionable guidance to citizens and authorities.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65739" y="1926943"/>
            <a:ext cx="418053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APPROACH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958904" y="1494520"/>
            <a:ext cx="2391499" cy="1274539"/>
          </a:xfrm>
          <a:custGeom>
            <a:avLst/>
            <a:gdLst/>
            <a:ahLst/>
            <a:cxnLst/>
            <a:rect l="l" t="t" r="r" b="b"/>
            <a:pathLst>
              <a:path w="2391499" h="1274539">
                <a:moveTo>
                  <a:pt x="0" y="0"/>
                </a:moveTo>
                <a:lnTo>
                  <a:pt x="2391499" y="0"/>
                </a:lnTo>
                <a:lnTo>
                  <a:pt x="2391499" y="1274539"/>
                </a:lnTo>
                <a:lnTo>
                  <a:pt x="0" y="1274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0478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627394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739312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367276" y="1688724"/>
            <a:ext cx="18715639" cy="6586620"/>
          </a:xfrm>
          <a:custGeom>
            <a:avLst/>
            <a:gdLst/>
            <a:ahLst/>
            <a:cxnLst/>
            <a:rect l="l" t="t" r="r" b="b"/>
            <a:pathLst>
              <a:path w="18715639" h="6586620">
                <a:moveTo>
                  <a:pt x="0" y="0"/>
                </a:moveTo>
                <a:lnTo>
                  <a:pt x="18715640" y="0"/>
                </a:lnTo>
                <a:lnTo>
                  <a:pt x="18715640" y="6586621"/>
                </a:lnTo>
                <a:lnTo>
                  <a:pt x="0" y="6586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9824" b="-3000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168917" y="8272963"/>
            <a:ext cx="12891375" cy="1259180"/>
          </a:xfrm>
          <a:custGeom>
            <a:avLst/>
            <a:gdLst/>
            <a:ahLst/>
            <a:cxnLst/>
            <a:rect l="l" t="t" r="r" b="b"/>
            <a:pathLst>
              <a:path w="12891375" h="1259180">
                <a:moveTo>
                  <a:pt x="0" y="0"/>
                </a:moveTo>
                <a:lnTo>
                  <a:pt x="12891375" y="0"/>
                </a:lnTo>
                <a:lnTo>
                  <a:pt x="12891375" y="1259181"/>
                </a:lnTo>
                <a:lnTo>
                  <a:pt x="0" y="12591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048" t="-711071" r="-26780" b="-6904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1159" y="1424869"/>
            <a:ext cx="5880623" cy="7833431"/>
          </a:xfrm>
          <a:custGeom>
            <a:avLst/>
            <a:gdLst/>
            <a:ahLst/>
            <a:cxnLst/>
            <a:rect l="l" t="t" r="r" b="b"/>
            <a:pathLst>
              <a:path w="5880623" h="7833431">
                <a:moveTo>
                  <a:pt x="0" y="0"/>
                </a:moveTo>
                <a:lnTo>
                  <a:pt x="5880623" y="0"/>
                </a:lnTo>
                <a:lnTo>
                  <a:pt x="5880623" y="7833431"/>
                </a:lnTo>
                <a:lnTo>
                  <a:pt x="0" y="7833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82761" b="-1940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6754403" y="1643063"/>
            <a:ext cx="9769141" cy="3467929"/>
          </a:xfrm>
          <a:custGeom>
            <a:avLst/>
            <a:gdLst/>
            <a:ahLst/>
            <a:cxnLst/>
            <a:rect l="l" t="t" r="r" b="b"/>
            <a:pathLst>
              <a:path w="9769141" h="3467929">
                <a:moveTo>
                  <a:pt x="0" y="0"/>
                </a:moveTo>
                <a:lnTo>
                  <a:pt x="9769141" y="0"/>
                </a:lnTo>
                <a:lnTo>
                  <a:pt x="9769141" y="3467928"/>
                </a:lnTo>
                <a:lnTo>
                  <a:pt x="0" y="3467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006" t="-1145" r="-643" b="-14865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6862305" y="5455505"/>
            <a:ext cx="4915996" cy="3732124"/>
          </a:xfrm>
          <a:custGeom>
            <a:avLst/>
            <a:gdLst/>
            <a:ahLst/>
            <a:cxnLst/>
            <a:rect l="l" t="t" r="r" b="b"/>
            <a:pathLst>
              <a:path w="4915996" h="3732124">
                <a:moveTo>
                  <a:pt x="0" y="0"/>
                </a:moveTo>
                <a:lnTo>
                  <a:pt x="4915996" y="0"/>
                </a:lnTo>
                <a:lnTo>
                  <a:pt x="4915996" y="3732124"/>
                </a:lnTo>
                <a:lnTo>
                  <a:pt x="0" y="3732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283" t="-91661" r="-100000" b="-4046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id="19" name="Group 19"/>
          <p:cNvGrpSpPr/>
          <p:nvPr/>
        </p:nvGrpSpPr>
        <p:grpSpPr>
          <a:xfrm>
            <a:off x="11887629" y="5455505"/>
            <a:ext cx="6157274" cy="3732124"/>
            <a:chOff x="0" y="0"/>
            <a:chExt cx="1621669" cy="9829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21669" cy="982946"/>
            </a:xfrm>
            <a:custGeom>
              <a:avLst/>
              <a:gdLst/>
              <a:ahLst/>
              <a:cxnLst/>
              <a:rect l="l" t="t" r="r" b="b"/>
              <a:pathLst>
                <a:path w="1621669" h="982946">
                  <a:moveTo>
                    <a:pt x="18860" y="0"/>
                  </a:moveTo>
                  <a:lnTo>
                    <a:pt x="1602809" y="0"/>
                  </a:lnTo>
                  <a:cubicBezTo>
                    <a:pt x="1613225" y="0"/>
                    <a:pt x="1621669" y="8444"/>
                    <a:pt x="1621669" y="18860"/>
                  </a:cubicBezTo>
                  <a:lnTo>
                    <a:pt x="1621669" y="964086"/>
                  </a:lnTo>
                  <a:cubicBezTo>
                    <a:pt x="1621669" y="974502"/>
                    <a:pt x="1613225" y="982946"/>
                    <a:pt x="1602809" y="982946"/>
                  </a:cubicBezTo>
                  <a:lnTo>
                    <a:pt x="18860" y="982946"/>
                  </a:lnTo>
                  <a:cubicBezTo>
                    <a:pt x="8444" y="982946"/>
                    <a:pt x="0" y="974502"/>
                    <a:pt x="0" y="964086"/>
                  </a:cubicBezTo>
                  <a:lnTo>
                    <a:pt x="0" y="18860"/>
                  </a:lnTo>
                  <a:cubicBezTo>
                    <a:pt x="0" y="8444"/>
                    <a:pt x="8444" y="0"/>
                    <a:pt x="188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621669" cy="1001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992299" y="5886181"/>
            <a:ext cx="5947935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Safer Communities: Earlier warnings, faster preparedness.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Smarter Decisions:  Real-time risk insights for authorities.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Inclusive Access: Multilingual, localized AI guidance.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Losses : Reduced disaster damage &amp; recovery costs.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Resilience: Better preparedness for future hazards.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Impact: One platform across regions &amp; hazards.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30726" y="5582425"/>
            <a:ext cx="1297322" cy="322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8"/>
              </a:lnSpc>
              <a:spcBef>
                <a:spcPct val="0"/>
              </a:spcBef>
            </a:pPr>
            <a:r>
              <a:rPr lang="en-US" sz="206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4219565"/>
            <a:ext cx="13895070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31527" y="1633537"/>
            <a:ext cx="16315983" cy="409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Hassan et al., “Machine Learning-Based Rainfall Prediction: Unveiling Insights and Forecasting for Improved Preparedness,” IEEE Access, 2023.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ML-based rainfall prediction for proactive preparedness, supporting our AI risk-prediction layer. (Mendeley)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Xplore- Research Paper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“Prediction of Flooding Due to Heavy Rainfall in India Using Machine Learning Algorithms: Providing Advanced Warning,” IEEE, 2022.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ML + rainfall data for flood prediction and advanced warning, directly supporting our impact-based early-warning approach. (ieeexplore.ieee.org)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Xplore- Research Paper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7" y="6506766"/>
            <a:ext cx="16824945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NEWS / ARTICLES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India Faces Weakest Monsoon in Nearly Two Decades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Highlights the real-world impact of rainfall variability on agriculture, food prices and rural livelihoods.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Reuters Article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India’s Capital: Extreme Heat to Heavy Floods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Demonstrates the need for timely, localized weather intelligence and preparedness during rapidly changing extreme-weather events.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Reuters Article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8575" y="2657970"/>
            <a:ext cx="18345150" cy="6535950"/>
            <a:chOff x="0" y="0"/>
            <a:chExt cx="24460200" cy="8714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0200" cy="8714613"/>
            </a:xfrm>
            <a:custGeom>
              <a:avLst/>
              <a:gdLst/>
              <a:ahLst/>
              <a:cxnLst/>
              <a:rect l="l" t="t" r="r" b="b"/>
              <a:pathLst>
                <a:path w="24460200" h="8714613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43176" y="2928404"/>
            <a:ext cx="17464249" cy="60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88632" lvl="1" indent="-244316" algn="just">
              <a:lnSpc>
                <a:spcPts val="2916"/>
              </a:lnSpc>
            </a:pP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81501" y="177746"/>
            <a:ext cx="12432925" cy="9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953" y="1828095"/>
            <a:ext cx="14153607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Code Show </dc:title>
  <cp:revision>68</cp:revision>
  <dcterms:created xsi:type="dcterms:W3CDTF">2006-08-16T00:00:00Z</dcterms:created>
  <dcterms:modified xsi:type="dcterms:W3CDTF">2026-09-06T06:21:14Z</dcterms:modified>
  <dc:identifier>DAHTstSq_E8</dc:identifier>
</cp:coreProperties>
</file>