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</p:sldIdLst>
  <p:sldSz cx="18288000" cy="10287000"/>
  <p:notesSz cx="6858000" cy="9144000"/>
  <p:embeddedFontLst>
    <p:embeddedFont>
      <p:font typeface="Arial Bold" panose="020B0704020202020204" pitchFamily="34" charset="0"/>
      <p:regular r:id="rId14"/>
      <p:bold r:id="rId15"/>
    </p:embeddedFont>
    <p:embeddedFont>
      <p:font typeface="Arimo Bold" panose="020B0604020202020204" charset="0"/>
      <p:regular r:id="rId16"/>
    </p:embeddedFont>
    <p:embeddedFont>
      <p:font typeface="Calibri (MS)" panose="020B0604020202020204" charset="0"/>
      <p:regular r:id="rId17"/>
    </p:embeddedFont>
    <p:embeddedFont>
      <p:font typeface="Garamond Bold" panose="02020804030307010803" pitchFamily="18" charset="0"/>
      <p:regular r:id="rId18"/>
      <p:bold r:id="rId19"/>
    </p:embeddedFont>
    <p:embeddedFont>
      <p:font typeface="Times New Roman Bold" panose="02020803070505020304" pitchFamily="18" charset="0"/>
      <p:regular r:id="rId20"/>
      <p:bold r:id="rId21"/>
    </p:embeddedFont>
    <p:embeddedFont>
      <p:font typeface="Trade Gothic Condensed" panose="020B0604020202020204" charset="0"/>
      <p:regular r:id="rId22"/>
    </p:embeddedFont>
    <p:embeddedFont>
      <p:font typeface="Trade Gothic Condensed Bold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493" dt="2026-09-07T05:02:01.885"/>
    <p1510:client id="{4DE604EB-522A-1EEE-B299-8634D72EBFEC}" v="18" dt="2026-09-06T11:54:04.562"/>
    <p1510:client id="{686FD80A-6483-49EF-3D23-AF72B4382026}" v="443" dt="2026-09-06T11:51:21.337"/>
    <p1510:client id="{FB465460-CF49-E30A-3E28-8F229E2EE9A3}" v="188" dt="2026-09-07T05:39:42.6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06.09.2026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3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6.png"/><Relationship Id="rId10" Type="http://schemas.openxmlformats.org/officeDocument/2006/relationships/image" Target="../media/image14.png"/><Relationship Id="rId4" Type="http://schemas.openxmlformats.org/officeDocument/2006/relationships/image" Target="../media/image4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16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74209" y="1592022"/>
            <a:ext cx="6957908" cy="7732452"/>
          </a:xfrm>
          <a:custGeom>
            <a:avLst/>
            <a:gdLst/>
            <a:ahLst/>
            <a:cxnLst/>
            <a:rect l="l" t="t" r="r" b="b"/>
            <a:pathLst>
              <a:path w="6957908" h="7732452">
                <a:moveTo>
                  <a:pt x="0" y="0"/>
                </a:moveTo>
                <a:lnTo>
                  <a:pt x="6957908" y="0"/>
                </a:lnTo>
                <a:lnTo>
                  <a:pt x="6957908" y="7732453"/>
                </a:lnTo>
                <a:lnTo>
                  <a:pt x="0" y="77324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187333" y="3153600"/>
            <a:ext cx="4805267" cy="5139357"/>
            <a:chOff x="0" y="0"/>
            <a:chExt cx="6407023" cy="685247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407023" cy="6852412"/>
            </a:xfrm>
            <a:custGeom>
              <a:avLst/>
              <a:gdLst/>
              <a:ahLst/>
              <a:cxnLst/>
              <a:rect l="l" t="t" r="r" b="b"/>
              <a:pathLst>
                <a:path w="6407023" h="6852412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49475" b="-1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1959969" y="990067"/>
            <a:ext cx="12618720" cy="1445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ctr">
              <a:lnSpc>
                <a:spcPts val="5759"/>
              </a:lnSpc>
            </a:pPr>
            <a:r>
              <a:rPr lang="en-US" sz="4800" b="1" dirty="0">
                <a:solidFill>
                  <a:srgbClr val="000000"/>
                </a:solidFill>
                <a:latin typeface="Times New Roman Bold"/>
                <a:ea typeface="Calibri"/>
                <a:cs typeface="Times New Roman Bold"/>
              </a:rPr>
              <a:t>TECH TIDE &lt;/&gt;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811668" y="-574790"/>
            <a:ext cx="15544800" cy="3114675"/>
            <a:chOff x="0" y="0"/>
            <a:chExt cx="20726400" cy="41529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26400" cy="4152900"/>
            </a:xfrm>
            <a:custGeom>
              <a:avLst/>
              <a:gdLst/>
              <a:ahLst/>
              <a:cxnLst/>
              <a:rect l="l" t="t" r="r" b="b"/>
              <a:pathLst>
                <a:path w="20726400" h="41529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7246" b="-47246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787153" y="1756906"/>
            <a:ext cx="11404074" cy="79367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endParaRPr lang="en-US" dirty="0">
              <a:solidFill>
                <a:srgbClr val="000000"/>
              </a:solidFill>
              <a:ea typeface="Calibri"/>
              <a:cs typeface="Calibri"/>
            </a:endParaRPr>
          </a:p>
          <a:p>
            <a:pPr marL="651510" lvl="1" indent="-325755" algn="just">
              <a:lnSpc>
                <a:spcPct val="200000"/>
              </a:lnSpc>
              <a:buFont typeface="Arial"/>
              <a:buChar char="•"/>
            </a:pPr>
            <a:r>
              <a:rPr lang="en-US" sz="36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 SIH26040</a:t>
            </a:r>
            <a:endParaRPr lang="en-US" sz="3600" b="1" dirty="0">
              <a:solidFill>
                <a:srgbClr val="000000"/>
              </a:solidFill>
              <a:latin typeface="Arial Bold"/>
              <a:ea typeface="Arial Bold"/>
              <a:cs typeface="Arial Bold"/>
            </a:endParaRPr>
          </a:p>
          <a:p>
            <a:pPr marL="651510" lvl="1" indent="-325755" algn="just">
              <a:lnSpc>
                <a:spcPct val="150000"/>
              </a:lnSpc>
              <a:buFont typeface="Arial"/>
              <a:buChar char="•"/>
            </a:pPr>
            <a:r>
              <a:rPr lang="en-US" sz="36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Title- </a:t>
            </a:r>
            <a:r>
              <a:rPr lang="en-US" sz="3200" dirty="0">
                <a:solidFill>
                  <a:srgbClr val="000000"/>
                </a:solidFill>
                <a:latin typeface="Arial Bold"/>
                <a:ea typeface="+mn-lt"/>
                <a:cs typeface="Arial Bold"/>
                <a:sym typeface="Arial Bold"/>
              </a:rPr>
              <a:t>Smart Water Purification and Quality Monitoring System for Rural and Mining-Affected Areas.</a:t>
            </a:r>
            <a:endParaRPr lang="en-US" sz="3200" dirty="0">
              <a:solidFill>
                <a:srgbClr val="000000"/>
              </a:solidFill>
              <a:latin typeface="Arial Bold"/>
              <a:ea typeface="+mn-lt"/>
              <a:cs typeface="Arial Bold"/>
            </a:endParaRPr>
          </a:p>
          <a:p>
            <a:pPr marL="651510" lvl="1" indent="-325755" algn="just">
              <a:lnSpc>
                <a:spcPct val="150000"/>
              </a:lnSpc>
              <a:buFont typeface="Arial"/>
              <a:buChar char="•"/>
            </a:pPr>
            <a:r>
              <a:rPr lang="en-US" sz="36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Theme- </a:t>
            </a:r>
            <a:r>
              <a:rPr lang="en-US" sz="3600" dirty="0">
                <a:solidFill>
                  <a:srgbClr val="212529"/>
                </a:solidFill>
                <a:latin typeface="Arial Bold"/>
                <a:ea typeface="+mn-lt"/>
                <a:cs typeface="Arial Bold"/>
                <a:sym typeface="Arial Bold"/>
              </a:rPr>
              <a:t>Clean &amp; Green Technology</a:t>
            </a:r>
            <a:endParaRPr lang="en-US" sz="3600" b="1" dirty="0">
              <a:solidFill>
                <a:srgbClr val="000000"/>
              </a:solidFill>
              <a:latin typeface="Arial Bold"/>
              <a:ea typeface="Arial Bold"/>
              <a:cs typeface="Arial Bold"/>
            </a:endParaRPr>
          </a:p>
          <a:p>
            <a:pPr marL="651510" lvl="1" indent="-325755" algn="just">
              <a:lnSpc>
                <a:spcPts val="8640"/>
              </a:lnSpc>
              <a:buFont typeface="Arial"/>
              <a:buChar char="•"/>
            </a:pPr>
            <a:r>
              <a:rPr lang="en-US" sz="36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Category- Hardware</a:t>
            </a:r>
            <a:endParaRPr lang="en-US" sz="3600" b="1" dirty="0">
              <a:solidFill>
                <a:srgbClr val="000000"/>
              </a:solidFill>
              <a:latin typeface="Arial Bold"/>
              <a:ea typeface="Arial Bold"/>
              <a:cs typeface="Arial Bold"/>
            </a:endParaRPr>
          </a:p>
          <a:p>
            <a:pPr marL="651510" lvl="1" indent="-325755" algn="just">
              <a:lnSpc>
                <a:spcPts val="8640"/>
              </a:lnSpc>
              <a:buFont typeface="Arial"/>
              <a:buChar char="•"/>
            </a:pPr>
            <a:r>
              <a:rPr lang="en-US" sz="36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ID-</a:t>
            </a:r>
            <a:endParaRPr lang="en-US" sz="3600" b="1" dirty="0">
              <a:solidFill>
                <a:srgbClr val="000000"/>
              </a:solidFill>
              <a:latin typeface="Arial Bold"/>
              <a:ea typeface="Arial Bold"/>
              <a:cs typeface="Arial Bold"/>
            </a:endParaRPr>
          </a:p>
          <a:p>
            <a:pPr marL="651510" lvl="1" indent="-325755" algn="just">
              <a:lnSpc>
                <a:spcPts val="8640"/>
              </a:lnSpc>
              <a:buFont typeface="Arial"/>
              <a:buChar char="•"/>
            </a:pPr>
            <a:r>
              <a:rPr lang="en-US" sz="36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 (Registered on portal)- Tech Tide &lt;/&gt;</a:t>
            </a:r>
            <a:endParaRPr lang="en-US" sz="3600" b="1" dirty="0">
              <a:solidFill>
                <a:srgbClr val="000000"/>
              </a:solidFill>
              <a:latin typeface="Arial Bold"/>
              <a:ea typeface="Arial Bold"/>
              <a:cs typeface="Arial Bold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815117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3106400" y="9739312"/>
            <a:ext cx="4267200" cy="547688"/>
            <a:chOff x="0" y="0"/>
            <a:chExt cx="5689600" cy="7302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9710" b="-209710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2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5845952" y="0"/>
            <a:ext cx="2442048" cy="1153088"/>
            <a:chOff x="0" y="0"/>
            <a:chExt cx="4499699" cy="212467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  <p:sp>
        <p:nvSpPr>
          <p:cNvPr id="12" name="Freeform 12"/>
          <p:cNvSpPr/>
          <p:nvPr/>
        </p:nvSpPr>
        <p:spPr>
          <a:xfrm>
            <a:off x="0" y="0"/>
            <a:ext cx="3087381" cy="1645406"/>
          </a:xfrm>
          <a:custGeom>
            <a:avLst/>
            <a:gdLst/>
            <a:ahLst/>
            <a:cxnLst/>
            <a:rect l="l" t="t" r="r" b="b"/>
            <a:pathLst>
              <a:path w="3087381" h="1645406">
                <a:moveTo>
                  <a:pt x="0" y="0"/>
                </a:moveTo>
                <a:lnTo>
                  <a:pt x="3087381" y="0"/>
                </a:lnTo>
                <a:lnTo>
                  <a:pt x="3087381" y="1645406"/>
                </a:lnTo>
                <a:lnTo>
                  <a:pt x="0" y="16454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11526835" y="1674712"/>
            <a:ext cx="6597225" cy="3461852"/>
            <a:chOff x="0" y="0"/>
            <a:chExt cx="11533782" cy="3673857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0"/>
              <a:ext cx="11533782" cy="3673857"/>
              <a:chOff x="0" y="0"/>
              <a:chExt cx="2278278" cy="7257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2278278" cy="725700"/>
              </a:xfrm>
              <a:custGeom>
                <a:avLst/>
                <a:gdLst/>
                <a:ahLst/>
                <a:cxnLst/>
                <a:rect l="l" t="t" r="r" b="b"/>
                <a:pathLst>
                  <a:path w="2278278" h="725700">
                    <a:moveTo>
                      <a:pt x="13425" y="0"/>
                    </a:moveTo>
                    <a:lnTo>
                      <a:pt x="2264853" y="0"/>
                    </a:lnTo>
                    <a:cubicBezTo>
                      <a:pt x="2272267" y="0"/>
                      <a:pt x="2278278" y="6010"/>
                      <a:pt x="2278278" y="13425"/>
                    </a:cubicBezTo>
                    <a:lnTo>
                      <a:pt x="2278278" y="712275"/>
                    </a:lnTo>
                    <a:cubicBezTo>
                      <a:pt x="2278278" y="715836"/>
                      <a:pt x="2276863" y="719250"/>
                      <a:pt x="2274346" y="721768"/>
                    </a:cubicBezTo>
                    <a:cubicBezTo>
                      <a:pt x="2271828" y="724286"/>
                      <a:pt x="2268413" y="725700"/>
                      <a:pt x="2264853" y="725700"/>
                    </a:cubicBezTo>
                    <a:lnTo>
                      <a:pt x="13425" y="725700"/>
                    </a:lnTo>
                    <a:cubicBezTo>
                      <a:pt x="9864" y="725700"/>
                      <a:pt x="6450" y="724286"/>
                      <a:pt x="3932" y="721768"/>
                    </a:cubicBezTo>
                    <a:cubicBezTo>
                      <a:pt x="1414" y="719250"/>
                      <a:pt x="0" y="715836"/>
                      <a:pt x="0" y="712275"/>
                    </a:cubicBezTo>
                    <a:lnTo>
                      <a:pt x="0" y="13425"/>
                    </a:lnTo>
                    <a:cubicBezTo>
                      <a:pt x="0" y="9864"/>
                      <a:pt x="1414" y="6450"/>
                      <a:pt x="3932" y="3932"/>
                    </a:cubicBezTo>
                    <a:cubicBezTo>
                      <a:pt x="6450" y="1414"/>
                      <a:pt x="9864" y="0"/>
                      <a:pt x="1342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19050"/>
                <a:ext cx="2278278" cy="7447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286535" y="180289"/>
              <a:ext cx="10997338" cy="3294175"/>
              <a:chOff x="0" y="0"/>
              <a:chExt cx="2064223" cy="618323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2064223" cy="618323"/>
              </a:xfrm>
              <a:custGeom>
                <a:avLst/>
                <a:gdLst/>
                <a:ahLst/>
                <a:cxnLst/>
                <a:rect l="l" t="t" r="r" b="b"/>
                <a:pathLst>
                  <a:path w="2064223" h="618323">
                    <a:moveTo>
                      <a:pt x="939" y="0"/>
                    </a:moveTo>
                    <a:lnTo>
                      <a:pt x="2063284" y="0"/>
                    </a:lnTo>
                    <a:cubicBezTo>
                      <a:pt x="2063533" y="0"/>
                      <a:pt x="2063772" y="99"/>
                      <a:pt x="2063948" y="275"/>
                    </a:cubicBezTo>
                    <a:cubicBezTo>
                      <a:pt x="2064124" y="451"/>
                      <a:pt x="2064223" y="690"/>
                      <a:pt x="2064223" y="939"/>
                    </a:cubicBezTo>
                    <a:lnTo>
                      <a:pt x="2064223" y="617385"/>
                    </a:lnTo>
                    <a:cubicBezTo>
                      <a:pt x="2064223" y="617634"/>
                      <a:pt x="2064124" y="617872"/>
                      <a:pt x="2063948" y="618048"/>
                    </a:cubicBezTo>
                    <a:cubicBezTo>
                      <a:pt x="2063772" y="618224"/>
                      <a:pt x="2063533" y="618323"/>
                      <a:pt x="2063284" y="618323"/>
                    </a:cubicBezTo>
                    <a:lnTo>
                      <a:pt x="939" y="618323"/>
                    </a:lnTo>
                    <a:cubicBezTo>
                      <a:pt x="690" y="618323"/>
                      <a:pt x="451" y="618224"/>
                      <a:pt x="275" y="618048"/>
                    </a:cubicBezTo>
                    <a:cubicBezTo>
                      <a:pt x="99" y="617872"/>
                      <a:pt x="0" y="617634"/>
                      <a:pt x="0" y="617385"/>
                    </a:cubicBezTo>
                    <a:lnTo>
                      <a:pt x="0" y="939"/>
                    </a:lnTo>
                    <a:cubicBezTo>
                      <a:pt x="0" y="690"/>
                      <a:pt x="99" y="451"/>
                      <a:pt x="275" y="275"/>
                    </a:cubicBezTo>
                    <a:cubicBezTo>
                      <a:pt x="451" y="99"/>
                      <a:pt x="690" y="0"/>
                      <a:pt x="93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-19050"/>
                <a:ext cx="2064223" cy="637373"/>
              </a:xfrm>
              <a:prstGeom prst="rect">
                <a:avLst/>
              </a:prstGeom>
            </p:spPr>
            <p:txBody>
              <a:bodyPr lIns="53460" tIns="53460" rIns="53460" bIns="5346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</p:grpSp>
      <p:grpSp>
        <p:nvGrpSpPr>
          <p:cNvPr id="27" name="Group 27"/>
          <p:cNvGrpSpPr/>
          <p:nvPr/>
        </p:nvGrpSpPr>
        <p:grpSpPr>
          <a:xfrm>
            <a:off x="-306358" y="5821504"/>
            <a:ext cx="8151812" cy="3901973"/>
            <a:chOff x="0" y="-96441"/>
            <a:chExt cx="12262140" cy="6638641"/>
          </a:xfrm>
        </p:grpSpPr>
        <p:grpSp>
          <p:nvGrpSpPr>
            <p:cNvPr id="28" name="Group 28"/>
            <p:cNvGrpSpPr/>
            <p:nvPr/>
          </p:nvGrpSpPr>
          <p:grpSpPr>
            <a:xfrm>
              <a:off x="0" y="-96441"/>
              <a:ext cx="12262140" cy="6638641"/>
              <a:chOff x="0" y="-19050"/>
              <a:chExt cx="2422151" cy="1311337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121763" y="5774"/>
                <a:ext cx="2300388" cy="1286513"/>
              </a:xfrm>
              <a:custGeom>
                <a:avLst/>
                <a:gdLst/>
                <a:ahLst/>
                <a:cxnLst/>
                <a:rect l="l" t="t" r="r" b="b"/>
                <a:pathLst>
                  <a:path w="2422151" h="1274963">
                    <a:moveTo>
                      <a:pt x="12627" y="0"/>
                    </a:moveTo>
                    <a:lnTo>
                      <a:pt x="2409524" y="0"/>
                    </a:lnTo>
                    <a:cubicBezTo>
                      <a:pt x="2412873" y="0"/>
                      <a:pt x="2416085" y="1330"/>
                      <a:pt x="2418453" y="3698"/>
                    </a:cubicBezTo>
                    <a:cubicBezTo>
                      <a:pt x="2420821" y="6067"/>
                      <a:pt x="2422151" y="9278"/>
                      <a:pt x="2422151" y="12627"/>
                    </a:cubicBezTo>
                    <a:lnTo>
                      <a:pt x="2422151" y="1262335"/>
                    </a:lnTo>
                    <a:cubicBezTo>
                      <a:pt x="2422151" y="1265684"/>
                      <a:pt x="2420821" y="1268896"/>
                      <a:pt x="2418453" y="1271264"/>
                    </a:cubicBezTo>
                    <a:cubicBezTo>
                      <a:pt x="2416085" y="1273632"/>
                      <a:pt x="2412873" y="1274963"/>
                      <a:pt x="2409524" y="1274963"/>
                    </a:cubicBezTo>
                    <a:lnTo>
                      <a:pt x="12627" y="1274963"/>
                    </a:lnTo>
                    <a:cubicBezTo>
                      <a:pt x="9278" y="1274963"/>
                      <a:pt x="6067" y="1273632"/>
                      <a:pt x="3698" y="1271264"/>
                    </a:cubicBezTo>
                    <a:cubicBezTo>
                      <a:pt x="1330" y="1268896"/>
                      <a:pt x="0" y="1265684"/>
                      <a:pt x="0" y="1262335"/>
                    </a:cubicBezTo>
                    <a:lnTo>
                      <a:pt x="0" y="12627"/>
                    </a:lnTo>
                    <a:cubicBezTo>
                      <a:pt x="0" y="9278"/>
                      <a:pt x="1330" y="6067"/>
                      <a:pt x="3698" y="3698"/>
                    </a:cubicBezTo>
                    <a:cubicBezTo>
                      <a:pt x="6067" y="1330"/>
                      <a:pt x="9278" y="0"/>
                      <a:pt x="1262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0" y="-19050"/>
                <a:ext cx="2422151" cy="129401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sp>
          <p:nvSpPr>
            <p:cNvPr id="33" name="TextBox 33"/>
            <p:cNvSpPr txBox="1"/>
            <p:nvPr/>
          </p:nvSpPr>
          <p:spPr>
            <a:xfrm>
              <a:off x="304630" y="215254"/>
              <a:ext cx="11691820" cy="5888937"/>
            </a:xfrm>
            <a:prstGeom prst="rect">
              <a:avLst/>
            </a:prstGeom>
          </p:spPr>
          <p:txBody>
            <a:bodyPr lIns="53460" tIns="53460" rIns="53460" bIns="5346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34" name="Freeform 34"/>
          <p:cNvSpPr/>
          <p:nvPr/>
        </p:nvSpPr>
        <p:spPr>
          <a:xfrm>
            <a:off x="8196008" y="3065238"/>
            <a:ext cx="2792852" cy="5270703"/>
          </a:xfrm>
          <a:custGeom>
            <a:avLst/>
            <a:gdLst/>
            <a:ahLst/>
            <a:cxnLst/>
            <a:rect l="l" t="t" r="r" b="b"/>
            <a:pathLst>
              <a:path w="2792852" h="5270703">
                <a:moveTo>
                  <a:pt x="0" y="0"/>
                </a:moveTo>
                <a:lnTo>
                  <a:pt x="2792852" y="0"/>
                </a:lnTo>
                <a:lnTo>
                  <a:pt x="2792852" y="5270703"/>
                </a:lnTo>
                <a:lnTo>
                  <a:pt x="0" y="52707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b="-5318"/>
            </a:stretch>
          </a:blipFill>
        </p:spPr>
      </p:sp>
      <p:sp>
        <p:nvSpPr>
          <p:cNvPr id="35" name="TextBox 35"/>
          <p:cNvSpPr txBox="1"/>
          <p:nvPr/>
        </p:nvSpPr>
        <p:spPr>
          <a:xfrm>
            <a:off x="3806130" y="139753"/>
            <a:ext cx="10668459" cy="13618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50"/>
              </a:lnSpc>
            </a:pPr>
            <a:r>
              <a:rPr lang="en-US" sz="3600" dirty="0">
                <a:solidFill>
                  <a:srgbClr val="000000"/>
                </a:solidFill>
                <a:latin typeface="Arial Bold"/>
                <a:ea typeface="+mn-lt"/>
                <a:cs typeface="Arial Bold"/>
                <a:sym typeface="Canva Sans Bold"/>
              </a:rPr>
              <a:t>IoT-Based Real-Time Water Quality Detection, Treatment &amp; Alert System</a:t>
            </a:r>
            <a:endParaRPr lang="en-US" sz="3600">
              <a:latin typeface="Arial Bold"/>
              <a:ea typeface="Calibri"/>
              <a:cs typeface="Arial Bold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11902600" y="1677590"/>
            <a:ext cx="3127570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1F497D"/>
                </a:solidFill>
                <a:latin typeface="Times New Roman"/>
                <a:ea typeface="Arimo Bold"/>
                <a:cs typeface="Times New Roman"/>
                <a:sym typeface="Arimo Bold"/>
              </a:rPr>
              <a:t>Idea / Solution</a:t>
            </a:r>
            <a:endParaRPr lang="en-US" sz="3200" b="1" dirty="0">
              <a:solidFill>
                <a:srgbClr val="1F497D"/>
              </a:solidFill>
              <a:latin typeface="Times New Roman"/>
              <a:ea typeface="Arimo Bold"/>
              <a:cs typeface="Times New Roman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11719706" y="2075851"/>
            <a:ext cx="6393552" cy="34624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500" b="1" dirty="0">
                <a:solidFill>
                  <a:srgbClr val="000000"/>
                </a:solidFill>
                <a:ea typeface="+mn-lt"/>
                <a:cs typeface="+mn-lt"/>
                <a:sym typeface="Times New Roman"/>
              </a:rPr>
              <a:t>Real-Time Monitoring:</a:t>
            </a:r>
            <a:r>
              <a:rPr lang="en-US" sz="2500" dirty="0">
                <a:solidFill>
                  <a:srgbClr val="000000"/>
                </a:solidFill>
                <a:ea typeface="+mn-lt"/>
                <a:cs typeface="+mn-lt"/>
                <a:sym typeface="Times New Roman"/>
              </a:rPr>
              <a:t> pH, </a:t>
            </a:r>
            <a:r>
              <a:rPr lang="en-US" sz="2500" dirty="0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  <a:t>TDS, turbidity &amp; temperature 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500" b="1" dirty="0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  <a:t>Jharkhand-Specific Module:</a:t>
            </a:r>
            <a:r>
              <a:rPr lang="en-US" sz="2500" dirty="0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  <a:t> Local contaminants → targeted treatment </a:t>
            </a:r>
            <a:endParaRPr lang="en-US" dirty="0">
              <a:sym typeface="Times New Roman Bold"/>
            </a:endParaRPr>
          </a:p>
          <a:p>
            <a:pPr marL="285750" indent="-285750">
              <a:buFont typeface="Arial"/>
              <a:buChar char="•"/>
            </a:pPr>
            <a:r>
              <a:rPr lang="en-US" sz="2500" b="1" dirty="0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  <a:t>Smart Control:</a:t>
            </a:r>
            <a:r>
              <a:rPr lang="en-US" sz="2500" dirty="0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  <a:t> ESP32 + pump + valves </a:t>
            </a:r>
            <a:endParaRPr lang="en-US" dirty="0">
              <a:sym typeface="Times New Roman Bold"/>
            </a:endParaRPr>
          </a:p>
          <a:p>
            <a:pPr marL="285750" indent="-285750">
              <a:buFont typeface="Arial"/>
              <a:buChar char="•"/>
            </a:pPr>
            <a:r>
              <a:rPr lang="en-US" sz="2500" b="1" dirty="0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  <a:t>Multi-Stage Treatment:</a:t>
            </a:r>
            <a:r>
              <a:rPr lang="en-US" sz="2500" dirty="0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  <a:t> Filtration + </a:t>
            </a:r>
            <a:r>
              <a:rPr lang="en-US" sz="2500" dirty="0">
                <a:solidFill>
                  <a:srgbClr val="000000"/>
                </a:solidFill>
                <a:ea typeface="+mn-lt"/>
                <a:cs typeface="+mn-lt"/>
                <a:sym typeface="Times New Roman"/>
              </a:rPr>
              <a:t>UV </a:t>
            </a:r>
            <a:endParaRPr lang="en-US" dirty="0">
              <a:sym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500" b="1" dirty="0">
                <a:solidFill>
                  <a:srgbClr val="000000"/>
                </a:solidFill>
                <a:ea typeface="+mn-lt"/>
                <a:cs typeface="+mn-lt"/>
                <a:sym typeface="Times New Roman"/>
              </a:rPr>
              <a:t>Quality Re-check:</a:t>
            </a:r>
            <a:r>
              <a:rPr lang="en-US" sz="2500" dirty="0">
                <a:solidFill>
                  <a:srgbClr val="000000"/>
                </a:solidFill>
                <a:ea typeface="+mn-lt"/>
                <a:cs typeface="+mn-lt"/>
                <a:sym typeface="Times New Roman"/>
              </a:rPr>
              <a:t> </a:t>
            </a:r>
            <a:r>
              <a:rPr lang="en-US" sz="2500" dirty="0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  <a:t>Post-treatment verification </a:t>
            </a:r>
            <a:endParaRPr lang="en-US">
              <a:sym typeface="Times New Roman Bold"/>
            </a:endParaRPr>
          </a:p>
          <a:p>
            <a:pPr marL="285750" indent="-285750">
              <a:buFont typeface="Arial"/>
              <a:buChar char="•"/>
            </a:pPr>
            <a:r>
              <a:rPr lang="en-US" sz="2500" b="1" dirty="0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  <a:t>Reject &amp; Alert:</a:t>
            </a:r>
            <a:r>
              <a:rPr lang="en-US" sz="2500" dirty="0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  <a:t> </a:t>
            </a:r>
            <a:r>
              <a:rPr lang="en-US" sz="2500" dirty="0">
                <a:solidFill>
                  <a:srgbClr val="000000"/>
                </a:solidFill>
                <a:ea typeface="+mn-lt"/>
                <a:cs typeface="+mn-lt"/>
                <a:sym typeface="Times New Roman"/>
              </a:rPr>
              <a:t>Unsafe water → </a:t>
            </a:r>
            <a:r>
              <a:rPr lang="en-US" sz="2500" dirty="0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  <a:t>divert + alert</a:t>
            </a:r>
            <a:endParaRPr lang="en-US" dirty="0">
              <a:sym typeface="Times New Roman"/>
            </a:endParaRPr>
          </a:p>
          <a:p>
            <a:pPr algn="l">
              <a:lnSpc>
                <a:spcPts val="3048"/>
              </a:lnSpc>
            </a:pPr>
            <a:endParaRPr lang="en-US" sz="25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283215" y="6338663"/>
            <a:ext cx="7168110" cy="31393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spcBef>
                <a:spcPct val="0"/>
              </a:spcBef>
              <a:buFont typeface="Arial"/>
              <a:buChar char="•"/>
            </a:pPr>
            <a:r>
              <a:rPr lang="en-US" sz="2550" b="1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Our system integrates real-time water quality sensing, intelligent treatment control and user alerts into a single closed-loop platform.</a:t>
            </a:r>
            <a:endParaRPr lang="en-US" sz="2550">
              <a:solidFill>
                <a:srgbClr val="000000"/>
              </a:solidFill>
              <a:latin typeface="Calibri"/>
              <a:ea typeface="Calibri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r>
              <a:rPr lang="en-US" sz="2550" b="1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Sensors</a:t>
            </a:r>
            <a:r>
              <a:rPr lang="en-US" sz="255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continuously monitor water quality → </a:t>
            </a:r>
            <a:r>
              <a:rPr lang="en-US" sz="2550" b="1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ESP32/controller</a:t>
            </a:r>
            <a:r>
              <a:rPr lang="en-US" sz="255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analyses the readings → </a:t>
            </a:r>
            <a:r>
              <a:rPr lang="en-US" sz="2550" b="1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filtration/disinfection stages</a:t>
            </a:r>
            <a:r>
              <a:rPr lang="en-US" sz="255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are activated as required → water is </a:t>
            </a:r>
            <a:r>
              <a:rPr lang="en-US" sz="2550" b="1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re-tested</a:t>
            </a:r>
            <a:r>
              <a:rPr lang="en-US" sz="255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before being classified as acceptable.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11529163" y="-452412"/>
            <a:ext cx="11100456" cy="10191725"/>
            <a:chOff x="-5005354" y="231490"/>
            <a:chExt cx="12544638" cy="15548917"/>
          </a:xfrm>
        </p:grpSpPr>
        <p:sp>
          <p:nvSpPr>
            <p:cNvPr id="43" name="Freeform 43"/>
            <p:cNvSpPr/>
            <p:nvPr/>
          </p:nvSpPr>
          <p:spPr>
            <a:xfrm>
              <a:off x="-5005354" y="9020307"/>
              <a:ext cx="7487483" cy="6760100"/>
            </a:xfrm>
            <a:custGeom>
              <a:avLst/>
              <a:gdLst/>
              <a:ahLst/>
              <a:cxnLst/>
              <a:rect l="l" t="t" r="r" b="b"/>
              <a:pathLst>
                <a:path w="1522224" h="1340317">
                  <a:moveTo>
                    <a:pt x="20093" y="0"/>
                  </a:moveTo>
                  <a:lnTo>
                    <a:pt x="1502131" y="0"/>
                  </a:lnTo>
                  <a:cubicBezTo>
                    <a:pt x="1513228" y="0"/>
                    <a:pt x="1522224" y="8996"/>
                    <a:pt x="1522224" y="20093"/>
                  </a:cubicBezTo>
                  <a:lnTo>
                    <a:pt x="1522224" y="1320225"/>
                  </a:lnTo>
                  <a:cubicBezTo>
                    <a:pt x="1522224" y="1331322"/>
                    <a:pt x="1513228" y="1340317"/>
                    <a:pt x="1502131" y="1340317"/>
                  </a:cubicBezTo>
                  <a:lnTo>
                    <a:pt x="20093" y="1340317"/>
                  </a:lnTo>
                  <a:cubicBezTo>
                    <a:pt x="8996" y="1340317"/>
                    <a:pt x="0" y="1331322"/>
                    <a:pt x="0" y="1320225"/>
                  </a:cubicBezTo>
                  <a:lnTo>
                    <a:pt x="0" y="20093"/>
                  </a:lnTo>
                  <a:cubicBezTo>
                    <a:pt x="0" y="8996"/>
                    <a:pt x="8996" y="0"/>
                    <a:pt x="20093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91448" y="231490"/>
              <a:ext cx="7347836" cy="6185602"/>
            </a:xfrm>
            <a:prstGeom prst="rect">
              <a:avLst/>
            </a:prstGeom>
          </p:spPr>
          <p:txBody>
            <a:bodyPr lIns="53460" tIns="53460" rIns="53460" bIns="5346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50" name="TextBox 37">
            <a:extLst>
              <a:ext uri="{FF2B5EF4-FFF2-40B4-BE49-F238E27FC236}">
                <a16:creationId xmlns:a16="http://schemas.microsoft.com/office/drawing/2014/main" id="{668B74CA-2FA3-7425-CECA-F5E2260CBF3B}"/>
              </a:ext>
            </a:extLst>
          </p:cNvPr>
          <p:cNvSpPr txBox="1"/>
          <p:nvPr/>
        </p:nvSpPr>
        <p:spPr>
          <a:xfrm>
            <a:off x="-583300" y="5962718"/>
            <a:ext cx="5750011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34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1F497D"/>
                </a:solidFill>
                <a:latin typeface="Times New Roman Bold"/>
                <a:ea typeface="Times New Roman Bold"/>
                <a:cs typeface="Times New Roman Bold"/>
              </a:rPr>
              <a:t>Proposed Solution</a:t>
            </a:r>
          </a:p>
        </p:txBody>
      </p:sp>
      <p:grpSp>
        <p:nvGrpSpPr>
          <p:cNvPr id="20" name="Group 27">
            <a:extLst>
              <a:ext uri="{FF2B5EF4-FFF2-40B4-BE49-F238E27FC236}">
                <a16:creationId xmlns:a16="http://schemas.microsoft.com/office/drawing/2014/main" id="{6093464A-3D62-A2C4-0A47-70C2BBC023EA}"/>
              </a:ext>
            </a:extLst>
          </p:cNvPr>
          <p:cNvGrpSpPr/>
          <p:nvPr/>
        </p:nvGrpSpPr>
        <p:grpSpPr>
          <a:xfrm>
            <a:off x="111401" y="1304702"/>
            <a:ext cx="7734299" cy="4417300"/>
            <a:chOff x="-4173" y="-96441"/>
            <a:chExt cx="12489462" cy="7482504"/>
          </a:xfrm>
        </p:grpSpPr>
        <p:grpSp>
          <p:nvGrpSpPr>
            <p:cNvPr id="21" name="Group 28">
              <a:extLst>
                <a:ext uri="{FF2B5EF4-FFF2-40B4-BE49-F238E27FC236}">
                  <a16:creationId xmlns:a16="http://schemas.microsoft.com/office/drawing/2014/main" id="{28C82A6D-E102-E39B-567D-2C6B664423E6}"/>
                </a:ext>
              </a:extLst>
            </p:cNvPr>
            <p:cNvGrpSpPr/>
            <p:nvPr/>
          </p:nvGrpSpPr>
          <p:grpSpPr>
            <a:xfrm>
              <a:off x="-4173" y="-96441"/>
              <a:ext cx="12489462" cy="7482504"/>
              <a:chOff x="-824" y="-19050"/>
              <a:chExt cx="2467054" cy="1478026"/>
            </a:xfrm>
          </p:grpSpPr>
          <p:sp>
            <p:nvSpPr>
              <p:cNvPr id="25" name="Freeform 29">
                <a:extLst>
                  <a:ext uri="{FF2B5EF4-FFF2-40B4-BE49-F238E27FC236}">
                    <a16:creationId xmlns:a16="http://schemas.microsoft.com/office/drawing/2014/main" id="{94D07A97-87A6-CCF6-4199-121794EDCD5F}"/>
                  </a:ext>
                </a:extLst>
              </p:cNvPr>
              <p:cNvSpPr/>
              <p:nvPr/>
            </p:nvSpPr>
            <p:spPr>
              <a:xfrm>
                <a:off x="-824" y="29331"/>
                <a:ext cx="2467054" cy="1429645"/>
              </a:xfrm>
              <a:custGeom>
                <a:avLst/>
                <a:gdLst/>
                <a:ahLst/>
                <a:cxnLst/>
                <a:rect l="l" t="t" r="r" b="b"/>
                <a:pathLst>
                  <a:path w="2422151" h="1274963">
                    <a:moveTo>
                      <a:pt x="12627" y="0"/>
                    </a:moveTo>
                    <a:lnTo>
                      <a:pt x="2409524" y="0"/>
                    </a:lnTo>
                    <a:cubicBezTo>
                      <a:pt x="2412873" y="0"/>
                      <a:pt x="2416085" y="1330"/>
                      <a:pt x="2418453" y="3698"/>
                    </a:cubicBezTo>
                    <a:cubicBezTo>
                      <a:pt x="2420821" y="6067"/>
                      <a:pt x="2422151" y="9278"/>
                      <a:pt x="2422151" y="12627"/>
                    </a:cubicBezTo>
                    <a:lnTo>
                      <a:pt x="2422151" y="1262335"/>
                    </a:lnTo>
                    <a:cubicBezTo>
                      <a:pt x="2422151" y="1265684"/>
                      <a:pt x="2420821" y="1268896"/>
                      <a:pt x="2418453" y="1271264"/>
                    </a:cubicBezTo>
                    <a:cubicBezTo>
                      <a:pt x="2416085" y="1273632"/>
                      <a:pt x="2412873" y="1274963"/>
                      <a:pt x="2409524" y="1274963"/>
                    </a:cubicBezTo>
                    <a:lnTo>
                      <a:pt x="12627" y="1274963"/>
                    </a:lnTo>
                    <a:cubicBezTo>
                      <a:pt x="9278" y="1274963"/>
                      <a:pt x="6067" y="1273632"/>
                      <a:pt x="3698" y="1271264"/>
                    </a:cubicBezTo>
                    <a:cubicBezTo>
                      <a:pt x="1330" y="1268896"/>
                      <a:pt x="0" y="1265684"/>
                      <a:pt x="0" y="1262335"/>
                    </a:cubicBezTo>
                    <a:lnTo>
                      <a:pt x="0" y="12627"/>
                    </a:lnTo>
                    <a:cubicBezTo>
                      <a:pt x="0" y="9278"/>
                      <a:pt x="1330" y="6067"/>
                      <a:pt x="3698" y="3698"/>
                    </a:cubicBezTo>
                    <a:cubicBezTo>
                      <a:pt x="6067" y="1330"/>
                      <a:pt x="9278" y="0"/>
                      <a:pt x="1262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26" name="TextBox 30">
                <a:extLst>
                  <a:ext uri="{FF2B5EF4-FFF2-40B4-BE49-F238E27FC236}">
                    <a16:creationId xmlns:a16="http://schemas.microsoft.com/office/drawing/2014/main" id="{E6714A15-66DE-7556-CA61-0384B9F416AF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2422151" cy="129401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sp>
          <p:nvSpPr>
            <p:cNvPr id="24" name="TextBox 33">
              <a:extLst>
                <a:ext uri="{FF2B5EF4-FFF2-40B4-BE49-F238E27FC236}">
                  <a16:creationId xmlns:a16="http://schemas.microsoft.com/office/drawing/2014/main" id="{25262B4D-1DAE-C435-266D-8A3C1CAFD819}"/>
                </a:ext>
              </a:extLst>
            </p:cNvPr>
            <p:cNvSpPr txBox="1"/>
            <p:nvPr/>
          </p:nvSpPr>
          <p:spPr>
            <a:xfrm>
              <a:off x="304630" y="215255"/>
              <a:ext cx="11691819" cy="5888936"/>
            </a:xfrm>
            <a:prstGeom prst="rect">
              <a:avLst/>
            </a:prstGeom>
          </p:spPr>
          <p:txBody>
            <a:bodyPr lIns="53460" tIns="53460" rIns="53460" bIns="5346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54" name="TextBox 38">
            <a:extLst>
              <a:ext uri="{FF2B5EF4-FFF2-40B4-BE49-F238E27FC236}">
                <a16:creationId xmlns:a16="http://schemas.microsoft.com/office/drawing/2014/main" id="{0C96891F-E831-00E9-B91D-D64E20877434}"/>
              </a:ext>
            </a:extLst>
          </p:cNvPr>
          <p:cNvSpPr txBox="1"/>
          <p:nvPr/>
        </p:nvSpPr>
        <p:spPr>
          <a:xfrm>
            <a:off x="-119125" y="1905628"/>
            <a:ext cx="7579319" cy="39065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14400" indent="-457200">
              <a:buFont typeface="Arial"/>
              <a:buChar char="•"/>
            </a:pPr>
            <a:r>
              <a:rPr lang="en-US" sz="2550" b="1" dirty="0">
                <a:solidFill>
                  <a:srgbClr val="000000"/>
                </a:solidFill>
                <a:ea typeface="+mn-lt"/>
                <a:cs typeface="+mn-lt"/>
                <a:sym typeface="Times New Roman"/>
              </a:rPr>
              <a:t>Water quality varies significantly:</a:t>
            </a:r>
            <a:r>
              <a:rPr lang="en-US" sz="2550" dirty="0">
                <a:solidFill>
                  <a:srgbClr val="000000"/>
                </a:solidFill>
                <a:ea typeface="+mn-lt"/>
                <a:cs typeface="+mn-lt"/>
                <a:sym typeface="Times New Roman"/>
              </a:rPr>
              <a:t> Conventional purification systems may not detect changing water-quality conditions in</a:t>
            </a:r>
            <a:r>
              <a:rPr lang="en-US" sz="2550" dirty="0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  <a:t> real time. </a:t>
            </a:r>
            <a:endParaRPr lang="en-US" dirty="0">
              <a:ea typeface="Calibri"/>
              <a:cs typeface="Calibri"/>
            </a:endParaRPr>
          </a:p>
          <a:p>
            <a:pPr marL="914400" lvl="1" indent="-457200">
              <a:buFont typeface="Arial"/>
              <a:buChar char="•"/>
            </a:pPr>
            <a:r>
              <a:rPr lang="en-US" sz="2550" b="1" dirty="0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  <a:t>Invisible </a:t>
            </a:r>
            <a:r>
              <a:rPr lang="en-US" sz="2550" b="1" dirty="0">
                <a:solidFill>
                  <a:srgbClr val="000000"/>
                </a:solidFill>
                <a:ea typeface="+mn-lt"/>
                <a:cs typeface="+mn-lt"/>
                <a:sym typeface="Times New Roman"/>
              </a:rPr>
              <a:t>contamination risk:</a:t>
            </a:r>
            <a:r>
              <a:rPr lang="en-US" sz="2550" dirty="0">
                <a:solidFill>
                  <a:srgbClr val="000000"/>
                </a:solidFill>
                <a:ea typeface="+mn-lt"/>
                <a:cs typeface="+mn-lt"/>
                <a:sym typeface="Times New Roman"/>
              </a:rPr>
              <a:t> Users may receive water without knowing </a:t>
            </a:r>
            <a:r>
              <a:rPr lang="en-US" sz="2550" dirty="0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  <a:t>whether key quality parameters are within acceptable </a:t>
            </a:r>
            <a:r>
              <a:rPr lang="en-US" sz="2550" dirty="0">
                <a:solidFill>
                  <a:srgbClr val="000000"/>
                </a:solidFill>
                <a:ea typeface="+mn-lt"/>
                <a:cs typeface="+mn-lt"/>
                <a:sym typeface="Times New Roman"/>
              </a:rPr>
              <a:t>limits. </a:t>
            </a:r>
            <a:endParaRPr lang="en-US" dirty="0">
              <a:ea typeface="Calibri"/>
              <a:cs typeface="Calibri"/>
            </a:endParaRPr>
          </a:p>
          <a:p>
            <a:pPr marL="914400" lvl="1" indent="-457200">
              <a:buFont typeface="Arial"/>
              <a:buChar char="•"/>
            </a:pPr>
            <a:r>
              <a:rPr lang="en-US" sz="2550" b="1" dirty="0">
                <a:solidFill>
                  <a:srgbClr val="000000"/>
                </a:solidFill>
                <a:ea typeface="+mn-lt"/>
                <a:cs typeface="+mn-lt"/>
                <a:sym typeface="Times New Roman"/>
              </a:rPr>
              <a:t>No closed-loop response:</a:t>
            </a:r>
            <a:r>
              <a:rPr lang="en-US" sz="2550" dirty="0">
                <a:solidFill>
                  <a:srgbClr val="000000"/>
                </a:solidFill>
                <a:ea typeface="+mn-lt"/>
                <a:cs typeface="+mn-lt"/>
                <a:sym typeface="Times New Roman"/>
              </a:rPr>
              <a:t> Existing systems generally separate </a:t>
            </a:r>
            <a:r>
              <a:rPr lang="en-US" sz="2550" b="1" dirty="0">
                <a:solidFill>
                  <a:srgbClr val="000000"/>
                </a:solidFill>
                <a:ea typeface="+mn-lt"/>
                <a:cs typeface="+mn-lt"/>
                <a:sym typeface="Times New Roman"/>
              </a:rPr>
              <a:t>quality </a:t>
            </a:r>
            <a:r>
              <a:rPr lang="en-US" sz="2550" b="1" dirty="0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  <a:t>monitoring</a:t>
            </a:r>
            <a:r>
              <a:rPr lang="en-US" sz="2550" b="1" dirty="0">
                <a:solidFill>
                  <a:srgbClr val="000000"/>
                </a:solidFill>
                <a:ea typeface="+mn-lt"/>
                <a:cs typeface="+mn-lt"/>
                <a:sym typeface="Times New Roman"/>
              </a:rPr>
              <a:t>, </a:t>
            </a:r>
            <a:r>
              <a:rPr lang="en-US" sz="2550" b="1" dirty="0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  <a:t>treatment and user alerts</a:t>
            </a:r>
            <a:r>
              <a:rPr lang="en-US" sz="2550" dirty="0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  <a:t>, limiting timely intervention.</a:t>
            </a:r>
            <a:endParaRPr lang="en-US" sz="2550" dirty="0">
              <a:ea typeface="+mn-lt"/>
              <a:cs typeface="+mn-lt"/>
            </a:endParaRPr>
          </a:p>
          <a:p>
            <a:pPr marL="555625" lvl="1" indent="-277495" algn="l">
              <a:lnSpc>
                <a:spcPts val="3091"/>
              </a:lnSpc>
              <a:buFont typeface="Arial"/>
              <a:buChar char="•"/>
            </a:pPr>
            <a:endParaRPr lang="en-US" sz="2550" dirty="0">
              <a:solidFill>
                <a:srgbClr val="000000"/>
              </a:solidFill>
              <a:latin typeface="Times New Roman"/>
              <a:ea typeface="Times New Roman Bold"/>
              <a:cs typeface="Times New Roman"/>
            </a:endParaRPr>
          </a:p>
        </p:txBody>
      </p:sp>
      <p:sp>
        <p:nvSpPr>
          <p:cNvPr id="57" name="TextBox 37">
            <a:extLst>
              <a:ext uri="{FF2B5EF4-FFF2-40B4-BE49-F238E27FC236}">
                <a16:creationId xmlns:a16="http://schemas.microsoft.com/office/drawing/2014/main" id="{9C2077E7-D621-7EED-ED7D-8D3385FC38D4}"/>
              </a:ext>
            </a:extLst>
          </p:cNvPr>
          <p:cNvSpPr txBox="1"/>
          <p:nvPr/>
        </p:nvSpPr>
        <p:spPr>
          <a:xfrm>
            <a:off x="-957895" y="1479564"/>
            <a:ext cx="5750011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34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1F497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Problem</a:t>
            </a:r>
            <a:endParaRPr lang="en-US" sz="3200" b="1" dirty="0">
              <a:solidFill>
                <a:srgbClr val="1F497D"/>
              </a:solidFill>
              <a:latin typeface="Times New Roman Bold"/>
              <a:ea typeface="Times New Roman Bold"/>
              <a:cs typeface="Times New Roman Bold"/>
            </a:endParaRPr>
          </a:p>
        </p:txBody>
      </p:sp>
      <p:sp>
        <p:nvSpPr>
          <p:cNvPr id="58" name="TextBox 36">
            <a:extLst>
              <a:ext uri="{FF2B5EF4-FFF2-40B4-BE49-F238E27FC236}">
                <a16:creationId xmlns:a16="http://schemas.microsoft.com/office/drawing/2014/main" id="{68020F22-9CF8-FE0C-1CD2-2DEDFB45DFAD}"/>
              </a:ext>
            </a:extLst>
          </p:cNvPr>
          <p:cNvSpPr txBox="1"/>
          <p:nvPr/>
        </p:nvSpPr>
        <p:spPr>
          <a:xfrm>
            <a:off x="11637553" y="5421328"/>
            <a:ext cx="4668135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1F497D"/>
                </a:solidFill>
                <a:latin typeface="Times New Roman"/>
                <a:ea typeface="Calibri"/>
                <a:cs typeface="Times New Roman"/>
                <a:sym typeface="Arimo Bold"/>
              </a:rPr>
              <a:t>Innovation</a:t>
            </a:r>
            <a:r>
              <a:rPr lang="en-US" sz="3200" b="1" dirty="0">
                <a:solidFill>
                  <a:srgbClr val="1F497D"/>
                </a:solidFill>
                <a:latin typeface="Times New Roman"/>
                <a:ea typeface="+mn-lt"/>
                <a:cs typeface="Times New Roman"/>
                <a:sym typeface="Arimo Bold"/>
              </a:rPr>
              <a:t> / Uniqueness</a:t>
            </a:r>
          </a:p>
        </p:txBody>
      </p:sp>
      <p:sp>
        <p:nvSpPr>
          <p:cNvPr id="60" name="TextBox 39">
            <a:extLst>
              <a:ext uri="{FF2B5EF4-FFF2-40B4-BE49-F238E27FC236}">
                <a16:creationId xmlns:a16="http://schemas.microsoft.com/office/drawing/2014/main" id="{A11A8590-4F94-FE51-D6A9-26EE75BF3B70}"/>
              </a:ext>
            </a:extLst>
          </p:cNvPr>
          <p:cNvSpPr txBox="1"/>
          <p:nvPr/>
        </p:nvSpPr>
        <p:spPr>
          <a:xfrm>
            <a:off x="11719706" y="5885850"/>
            <a:ext cx="6410117" cy="38318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buFont typeface="Arial"/>
              <a:buChar char="•"/>
            </a:pPr>
            <a:r>
              <a:rPr lang="en-US" sz="2500" b="1" dirty="0">
                <a:solidFill>
                  <a:srgbClr val="000000"/>
                </a:solidFill>
                <a:ea typeface="+mn-lt"/>
                <a:cs typeface="+mn-lt"/>
                <a:sym typeface="Times New Roman"/>
              </a:rPr>
              <a:t>Closed-Loop</a:t>
            </a:r>
            <a:r>
              <a:rPr lang="en-US" sz="2500" b="1" dirty="0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  <a:t> Purification</a:t>
            </a:r>
            <a:br>
              <a:rPr lang="en-US" sz="2500" b="1" dirty="0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</a:br>
            <a:r>
              <a:rPr lang="en-US" sz="2500" b="1" dirty="0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  <a:t>   </a:t>
            </a:r>
            <a:r>
              <a:rPr lang="en-US" sz="2500" dirty="0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  <a:t>Sense → Treat → Re-check → Deliver/Reject</a:t>
            </a:r>
            <a:endParaRPr lang="en-US" sz="2500" dirty="0">
              <a:solidFill>
                <a:srgbClr val="000000"/>
              </a:solidFill>
              <a:ea typeface="+mn-lt"/>
              <a:cs typeface="+mn-lt"/>
            </a:endParaRPr>
          </a:p>
          <a:p>
            <a:endParaRPr lang="en-US" sz="800" b="1" dirty="0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500" b="1" dirty="0">
                <a:solidFill>
                  <a:srgbClr val="000000"/>
                </a:solidFill>
                <a:ea typeface="+mn-lt"/>
                <a:cs typeface="+mn-lt"/>
                <a:sym typeface="Times New Roman"/>
              </a:rPr>
              <a:t>Real-Time </a:t>
            </a:r>
            <a:r>
              <a:rPr lang="en-US" sz="2500" b="1" dirty="0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  <a:t>Automation</a:t>
            </a:r>
            <a:br>
              <a:rPr lang="en-US" sz="2500" b="1" dirty="0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</a:br>
            <a:r>
              <a:rPr lang="en-US" sz="2500" b="1" dirty="0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  <a:t>  </a:t>
            </a:r>
            <a:r>
              <a:rPr lang="en-US" sz="2400" dirty="0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  <a:t>Treatment &amp; water flow based on sensor readings.</a:t>
            </a:r>
            <a:endParaRPr lang="en-US" sz="2400" dirty="0"/>
          </a:p>
          <a:p>
            <a:pPr>
              <a:buFont typeface="Arial"/>
              <a:buChar char="•"/>
            </a:pPr>
            <a:endParaRPr lang="en-US" sz="800" dirty="0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500" b="1" dirty="0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  <a:t>Safety-Based Rejection</a:t>
            </a:r>
            <a:br>
              <a:rPr lang="en-US" sz="2500" b="1" dirty="0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</a:br>
            <a:r>
              <a:rPr lang="en-US" sz="2500" b="1" dirty="0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  <a:t>  </a:t>
            </a:r>
            <a:r>
              <a:rPr lang="en-US" sz="2500" dirty="0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  <a:t>Unsafe water → </a:t>
            </a:r>
            <a:r>
              <a:rPr lang="en-US" sz="2500" dirty="0">
                <a:solidFill>
                  <a:srgbClr val="000000"/>
                </a:solidFill>
                <a:ea typeface="+mn-lt"/>
                <a:cs typeface="+mn-lt"/>
                <a:sym typeface="Times New Roman"/>
              </a:rPr>
              <a:t>Auto-divert </a:t>
            </a:r>
            <a:r>
              <a:rPr lang="en-US" sz="2500" dirty="0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  <a:t>+ </a:t>
            </a:r>
            <a:r>
              <a:rPr lang="en-US" sz="2500" dirty="0">
                <a:solidFill>
                  <a:srgbClr val="000000"/>
                </a:solidFill>
                <a:ea typeface="+mn-lt"/>
                <a:cs typeface="+mn-lt"/>
                <a:sym typeface="Times New Roman"/>
              </a:rPr>
              <a:t>Alert</a:t>
            </a:r>
            <a:endParaRPr lang="en-US" dirty="0">
              <a:sym typeface="Times New Roman"/>
            </a:endParaRPr>
          </a:p>
          <a:p>
            <a:pPr>
              <a:buFont typeface="Arial"/>
              <a:buChar char="•"/>
            </a:pPr>
            <a:endParaRPr lang="en-US" sz="800" dirty="0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500" b="1" dirty="0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  <a:t>Integrated Monitoring</a:t>
            </a:r>
            <a:br>
              <a:rPr lang="en-US" sz="2500" b="1" dirty="0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</a:br>
            <a:r>
              <a:rPr lang="en-US" sz="2500" b="1" dirty="0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  <a:t>  </a:t>
            </a:r>
            <a:r>
              <a:rPr lang="en-US" sz="2500" dirty="0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  <a:t>Sensors + Treatment + Alerts + Data Logging</a:t>
            </a:r>
            <a:endParaRPr lang="en-US" dirty="0">
              <a:solidFill>
                <a:srgbClr val="000000"/>
              </a:solidFill>
              <a:ea typeface="+mn-lt"/>
              <a:cs typeface="+mn-lt"/>
              <a:sym typeface="Times New Roman Bold"/>
            </a:endParaRPr>
          </a:p>
          <a:p>
            <a:r>
              <a:rPr lang="en-US" sz="2500" dirty="0">
                <a:solidFill>
                  <a:srgbClr val="000000"/>
                </a:solidFill>
                <a:ea typeface="+mn-lt"/>
                <a:cs typeface="+mn-lt"/>
                <a:sym typeface="Times New Roman Bold"/>
              </a:rPr>
              <a:t>  (in one system).</a:t>
            </a:r>
            <a:endParaRPr lang="en-US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739312"/>
            <a:ext cx="18288000" cy="547688"/>
            <a:chOff x="0" y="0"/>
            <a:chExt cx="24384000" cy="7302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730250"/>
            </a:xfrm>
            <a:custGeom>
              <a:avLst/>
              <a:gdLst/>
              <a:ahLst/>
              <a:cxnLst/>
              <a:rect l="l" t="t" r="r" b="b"/>
              <a:pathLst>
                <a:path w="24384000" h="730250">
                  <a:moveTo>
                    <a:pt x="0" y="0"/>
                  </a:moveTo>
                  <a:lnTo>
                    <a:pt x="24384000" y="0"/>
                  </a:lnTo>
                  <a:lnTo>
                    <a:pt x="243840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399256" y="-219980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21945600" cy="23050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040"/>
                </a:lnSpc>
              </a:pPr>
              <a:r>
                <a:rPr lang="en-US" sz="42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25334" y="9739312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96831" y="9739312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6408001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@SIH Idea submission- Template</a:t>
              </a:r>
            </a:p>
          </p:txBody>
        </p:sp>
      </p:grpSp>
      <p:sp>
        <p:nvSpPr>
          <p:cNvPr id="13" name="Freeform 13"/>
          <p:cNvSpPr/>
          <p:nvPr/>
        </p:nvSpPr>
        <p:spPr>
          <a:xfrm>
            <a:off x="0" y="0"/>
            <a:ext cx="2391499" cy="1274539"/>
          </a:xfrm>
          <a:custGeom>
            <a:avLst/>
            <a:gdLst/>
            <a:ahLst/>
            <a:cxnLst/>
            <a:rect l="l" t="t" r="r" b="b"/>
            <a:pathLst>
              <a:path w="2391499" h="1274539">
                <a:moveTo>
                  <a:pt x="0" y="0"/>
                </a:moveTo>
                <a:lnTo>
                  <a:pt x="2391499" y="0"/>
                </a:lnTo>
                <a:lnTo>
                  <a:pt x="2391499" y="1274539"/>
                </a:lnTo>
                <a:lnTo>
                  <a:pt x="0" y="12745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-3232" y="894911"/>
            <a:ext cx="13735081" cy="7998954"/>
          </a:xfrm>
          <a:custGeom>
            <a:avLst/>
            <a:gdLst/>
            <a:ahLst/>
            <a:cxnLst/>
            <a:rect l="l" t="t" r="r" b="b"/>
            <a:pathLst>
              <a:path w="13735081" h="7998954">
                <a:moveTo>
                  <a:pt x="0" y="0"/>
                </a:moveTo>
                <a:lnTo>
                  <a:pt x="13735081" y="0"/>
                </a:lnTo>
                <a:lnTo>
                  <a:pt x="13735081" y="7998954"/>
                </a:lnTo>
                <a:lnTo>
                  <a:pt x="0" y="79989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4055" r="-326" b="-791"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15350403" y="2248"/>
            <a:ext cx="2694500" cy="1272291"/>
            <a:chOff x="0" y="0"/>
            <a:chExt cx="4499699" cy="212467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b="1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13898731" y="1668055"/>
            <a:ext cx="4180532" cy="6983298"/>
            <a:chOff x="0" y="0"/>
            <a:chExt cx="5574043" cy="9311064"/>
          </a:xfrm>
        </p:grpSpPr>
        <p:grpSp>
          <p:nvGrpSpPr>
            <p:cNvPr id="18" name="Group 18"/>
            <p:cNvGrpSpPr/>
            <p:nvPr/>
          </p:nvGrpSpPr>
          <p:grpSpPr>
            <a:xfrm>
              <a:off x="0" y="0"/>
              <a:ext cx="5574043" cy="9311064"/>
              <a:chOff x="0" y="0"/>
              <a:chExt cx="1101045" cy="1839223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1101045" cy="1839222"/>
              </a:xfrm>
              <a:custGeom>
                <a:avLst/>
                <a:gdLst/>
                <a:ahLst/>
                <a:cxnLst/>
                <a:rect l="l" t="t" r="r" b="b"/>
                <a:pathLst>
                  <a:path w="1101045" h="1839222">
                    <a:moveTo>
                      <a:pt x="27778" y="0"/>
                    </a:moveTo>
                    <a:lnTo>
                      <a:pt x="1073267" y="0"/>
                    </a:lnTo>
                    <a:cubicBezTo>
                      <a:pt x="1080634" y="0"/>
                      <a:pt x="1087700" y="2927"/>
                      <a:pt x="1092909" y="8136"/>
                    </a:cubicBezTo>
                    <a:cubicBezTo>
                      <a:pt x="1098119" y="13346"/>
                      <a:pt x="1101045" y="20411"/>
                      <a:pt x="1101045" y="27778"/>
                    </a:cubicBezTo>
                    <a:lnTo>
                      <a:pt x="1101045" y="1811444"/>
                    </a:lnTo>
                    <a:cubicBezTo>
                      <a:pt x="1101045" y="1818811"/>
                      <a:pt x="1098119" y="1825877"/>
                      <a:pt x="1092909" y="1831086"/>
                    </a:cubicBezTo>
                    <a:cubicBezTo>
                      <a:pt x="1087700" y="1836296"/>
                      <a:pt x="1080634" y="1839222"/>
                      <a:pt x="1073267" y="1839222"/>
                    </a:cubicBezTo>
                    <a:lnTo>
                      <a:pt x="27778" y="1839222"/>
                    </a:lnTo>
                    <a:cubicBezTo>
                      <a:pt x="20411" y="1839222"/>
                      <a:pt x="13346" y="1836296"/>
                      <a:pt x="8136" y="1831086"/>
                    </a:cubicBezTo>
                    <a:cubicBezTo>
                      <a:pt x="2927" y="1825877"/>
                      <a:pt x="0" y="1818811"/>
                      <a:pt x="0" y="1811444"/>
                    </a:cubicBezTo>
                    <a:lnTo>
                      <a:pt x="0" y="27778"/>
                    </a:lnTo>
                    <a:cubicBezTo>
                      <a:pt x="0" y="20411"/>
                      <a:pt x="2927" y="13346"/>
                      <a:pt x="8136" y="8136"/>
                    </a:cubicBezTo>
                    <a:cubicBezTo>
                      <a:pt x="13346" y="2927"/>
                      <a:pt x="20411" y="0"/>
                      <a:pt x="2777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-19050"/>
                <a:ext cx="1101045" cy="18582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138477" y="456926"/>
              <a:ext cx="5314790" cy="8348794"/>
              <a:chOff x="0" y="0"/>
              <a:chExt cx="997597" cy="1567086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997597" cy="1567086"/>
              </a:xfrm>
              <a:custGeom>
                <a:avLst/>
                <a:gdLst/>
                <a:ahLst/>
                <a:cxnLst/>
                <a:rect l="l" t="t" r="r" b="b"/>
                <a:pathLst>
                  <a:path w="997597" h="1567086">
                    <a:moveTo>
                      <a:pt x="1942" y="0"/>
                    </a:moveTo>
                    <a:lnTo>
                      <a:pt x="995655" y="0"/>
                    </a:lnTo>
                    <a:cubicBezTo>
                      <a:pt x="996170" y="0"/>
                      <a:pt x="996664" y="205"/>
                      <a:pt x="997028" y="569"/>
                    </a:cubicBezTo>
                    <a:cubicBezTo>
                      <a:pt x="997392" y="933"/>
                      <a:pt x="997597" y="1427"/>
                      <a:pt x="997597" y="1942"/>
                    </a:cubicBezTo>
                    <a:lnTo>
                      <a:pt x="997597" y="1565143"/>
                    </a:lnTo>
                    <a:cubicBezTo>
                      <a:pt x="997597" y="1565658"/>
                      <a:pt x="997392" y="1566152"/>
                      <a:pt x="997028" y="1566517"/>
                    </a:cubicBezTo>
                    <a:cubicBezTo>
                      <a:pt x="996664" y="1566881"/>
                      <a:pt x="996170" y="1567086"/>
                      <a:pt x="995655" y="1567086"/>
                    </a:cubicBezTo>
                    <a:lnTo>
                      <a:pt x="1942" y="1567086"/>
                    </a:lnTo>
                    <a:cubicBezTo>
                      <a:pt x="870" y="1567086"/>
                      <a:pt x="0" y="1566216"/>
                      <a:pt x="0" y="1565143"/>
                    </a:cubicBezTo>
                    <a:lnTo>
                      <a:pt x="0" y="1942"/>
                    </a:lnTo>
                    <a:cubicBezTo>
                      <a:pt x="0" y="1427"/>
                      <a:pt x="205" y="933"/>
                      <a:pt x="569" y="569"/>
                    </a:cubicBezTo>
                    <a:cubicBezTo>
                      <a:pt x="933" y="205"/>
                      <a:pt x="1427" y="0"/>
                      <a:pt x="194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0" y="-19050"/>
                <a:ext cx="997597" cy="1586136"/>
              </a:xfrm>
              <a:prstGeom prst="rect">
                <a:avLst/>
              </a:prstGeom>
            </p:spPr>
            <p:txBody>
              <a:bodyPr lIns="53460" tIns="53460" rIns="53460" bIns="5346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</p:grpSp>
      <p:sp>
        <p:nvSpPr>
          <p:cNvPr id="24" name="Freeform 24"/>
          <p:cNvSpPr/>
          <p:nvPr/>
        </p:nvSpPr>
        <p:spPr>
          <a:xfrm>
            <a:off x="11802831" y="4681758"/>
            <a:ext cx="1732791" cy="923484"/>
          </a:xfrm>
          <a:custGeom>
            <a:avLst/>
            <a:gdLst/>
            <a:ahLst/>
            <a:cxnLst/>
            <a:rect l="l" t="t" r="r" b="b"/>
            <a:pathLst>
              <a:path w="1732791" h="923484">
                <a:moveTo>
                  <a:pt x="0" y="0"/>
                </a:moveTo>
                <a:lnTo>
                  <a:pt x="1732792" y="0"/>
                </a:lnTo>
                <a:lnTo>
                  <a:pt x="1732792" y="923484"/>
                </a:lnTo>
                <a:lnTo>
                  <a:pt x="0" y="92348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17000"/>
            </a:blip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13898731" y="2654641"/>
            <a:ext cx="4047540" cy="567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799" lvl="1" indent="-215899" algn="l">
              <a:lnSpc>
                <a:spcPts val="239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→ AI RISK IMD/Weather APIs + satellite/radar + historical data → real-time ingestion → ML-based localized hazard &amp; impact prediction with Explainable AI (XAI).</a:t>
            </a:r>
          </a:p>
          <a:p>
            <a:pPr algn="l">
              <a:lnSpc>
                <a:spcPts val="1560"/>
              </a:lnSpc>
            </a:pPr>
            <a:endParaRPr lang="en-US" sz="19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31799" lvl="1" indent="-215899" algn="l">
              <a:lnSpc>
                <a:spcPts val="239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RISK → INTELLIGENCE RAG knowledge base + Large Language Model (LLM) combines predicted risk with verified weather bulletins/advisories to generate contextual, trustworthy responses.</a:t>
            </a:r>
          </a:p>
          <a:p>
            <a:pPr algn="l">
              <a:lnSpc>
                <a:spcPts val="1320"/>
              </a:lnSpc>
            </a:pPr>
            <a:endParaRPr lang="en-US" sz="19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31799" lvl="1" indent="-215899" algn="l">
              <a:lnSpc>
                <a:spcPts val="239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INTELLIGENCE → ACTION Live dashboard + multilingual location-aware chatbot + alerts deliver risk maps, explainable warnings and actionable guidance to citizens and authorities.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765739" y="1926943"/>
            <a:ext cx="4180532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TECHNICAL APPROACH</a:t>
            </a:r>
          </a:p>
        </p:txBody>
      </p:sp>
      <p:sp>
        <p:nvSpPr>
          <p:cNvPr id="27" name="Freeform 27"/>
          <p:cNvSpPr/>
          <p:nvPr/>
        </p:nvSpPr>
        <p:spPr>
          <a:xfrm>
            <a:off x="12958904" y="1494520"/>
            <a:ext cx="2391499" cy="1274539"/>
          </a:xfrm>
          <a:custGeom>
            <a:avLst/>
            <a:gdLst/>
            <a:ahLst/>
            <a:cxnLst/>
            <a:rect l="l" t="t" r="r" b="b"/>
            <a:pathLst>
              <a:path w="2391499" h="1274539">
                <a:moveTo>
                  <a:pt x="0" y="0"/>
                </a:moveTo>
                <a:lnTo>
                  <a:pt x="2391499" y="0"/>
                </a:lnTo>
                <a:lnTo>
                  <a:pt x="2391499" y="1274539"/>
                </a:lnTo>
                <a:lnTo>
                  <a:pt x="0" y="127453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9999"/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05840" y="3827145"/>
            <a:ext cx="13895070" cy="200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0095" lvl="1" indent="-380048" algn="just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Analysis of the feasibility of the idea</a:t>
            </a:r>
          </a:p>
          <a:p>
            <a:pPr marL="760095" lvl="1" indent="-380048" algn="just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Potential challenges and risks</a:t>
            </a:r>
          </a:p>
          <a:p>
            <a:pPr marL="760095" lvl="1" indent="-380048" algn="just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Strategies for overcoming these challenges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4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6408001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@SIH Idea submission- Template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75612" y="359321"/>
            <a:ext cx="1915887" cy="1249099"/>
            <a:chOff x="0" y="0"/>
            <a:chExt cx="2554516" cy="1665465"/>
          </a:xfrm>
        </p:grpSpPr>
        <p:sp>
          <p:nvSpPr>
            <p:cNvPr id="15" name="Freeform 15" descr="Your startup LOGO"/>
            <p:cNvSpPr/>
            <p:nvPr/>
          </p:nvSpPr>
          <p:spPr>
            <a:xfrm>
              <a:off x="0" y="0"/>
              <a:ext cx="2554478" cy="1665478"/>
            </a:xfrm>
            <a:custGeom>
              <a:avLst/>
              <a:gdLst/>
              <a:ahLst/>
              <a:cxnLst/>
              <a:rect l="l" t="t" r="r" b="b"/>
              <a:pathLst>
                <a:path w="2554478" h="1665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Your Team Name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70478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627394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4</a:t>
              </a:r>
            </a:p>
          </p:txBody>
        </p:sp>
      </p:grpSp>
      <p:sp>
        <p:nvSpPr>
          <p:cNvPr id="11" name="Freeform 11"/>
          <p:cNvSpPr/>
          <p:nvPr/>
        </p:nvSpPr>
        <p:spPr>
          <a:xfrm>
            <a:off x="6972300" y="9739312"/>
            <a:ext cx="4806000" cy="547688"/>
          </a:xfrm>
          <a:custGeom>
            <a:avLst/>
            <a:gdLst/>
            <a:ahLst/>
            <a:cxnLst/>
            <a:rect l="l" t="t" r="r" b="b"/>
            <a:pathLst>
              <a:path w="6408000" h="730250">
                <a:moveTo>
                  <a:pt x="0" y="0"/>
                </a:moveTo>
                <a:lnTo>
                  <a:pt x="6408000" y="0"/>
                </a:lnTo>
                <a:lnTo>
                  <a:pt x="6408000" y="730250"/>
                </a:lnTo>
                <a:lnTo>
                  <a:pt x="0" y="730250"/>
                </a:lnTo>
                <a:close/>
              </a:path>
            </a:pathLst>
          </a:custGeom>
          <a:blipFill>
            <a:blip r:embed="rId3">
              <a:alphaModFix amt="0"/>
            </a:blip>
            <a:stretch>
              <a:fillRect t="-120982" b="-120982"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0" y="0"/>
            <a:ext cx="2541117" cy="1354278"/>
          </a:xfrm>
          <a:custGeom>
            <a:avLst/>
            <a:gdLst/>
            <a:ahLst/>
            <a:cxnLst/>
            <a:rect l="l" t="t" r="r" b="b"/>
            <a:pathLst>
              <a:path w="2541117" h="1354278">
                <a:moveTo>
                  <a:pt x="0" y="0"/>
                </a:moveTo>
                <a:lnTo>
                  <a:pt x="2541117" y="0"/>
                </a:lnTo>
                <a:lnTo>
                  <a:pt x="2541117" y="1354278"/>
                </a:lnTo>
                <a:lnTo>
                  <a:pt x="0" y="13542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C0E0B0D-9181-04F6-BE4B-23E5F1893A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639" y="1555158"/>
            <a:ext cx="4413211" cy="555058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6454B85-7195-E6A8-541E-C92F9E249D7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60697" y="1538592"/>
            <a:ext cx="4504255" cy="556230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5F64020-8596-3B9B-BAC3-1C75ABDA5D3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78712" y="1527145"/>
            <a:ext cx="4359405" cy="555975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DF20089-7452-7144-0993-B0F4BD16EAA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676183" y="1533234"/>
            <a:ext cx="4358966" cy="556886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FAFEB11-F901-0524-86E5-24512420490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81739" y="7125048"/>
            <a:ext cx="12225130" cy="143716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7B336BB-11AE-67C6-DB86-DC76EA855B5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34478" y="8641713"/>
            <a:ext cx="13318436" cy="98800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05840" y="3827145"/>
            <a:ext cx="13895070" cy="200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0095" lvl="1" indent="-380048" algn="just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Potential impact on the target audience</a:t>
            </a:r>
          </a:p>
          <a:p>
            <a:pPr marL="760095" lvl="1" indent="-380048" algn="just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Benefits of the solution (social, economic, environmental, etc.)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5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6408001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@SIH Idea submission- Template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75612" y="359321"/>
            <a:ext cx="1915887" cy="1249099"/>
            <a:chOff x="0" y="0"/>
            <a:chExt cx="2554516" cy="1665465"/>
          </a:xfrm>
        </p:grpSpPr>
        <p:sp>
          <p:nvSpPr>
            <p:cNvPr id="15" name="Freeform 15" descr="Your startup LOGO"/>
            <p:cNvSpPr/>
            <p:nvPr/>
          </p:nvSpPr>
          <p:spPr>
            <a:xfrm>
              <a:off x="0" y="0"/>
              <a:ext cx="2554478" cy="1665478"/>
            </a:xfrm>
            <a:custGeom>
              <a:avLst/>
              <a:gdLst/>
              <a:ahLst/>
              <a:cxnLst/>
              <a:rect l="l" t="t" r="r" b="b"/>
              <a:pathLst>
                <a:path w="2554478" h="1665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Your Team Name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5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6408001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@SIH Idea submission- Template</a:t>
              </a:r>
            </a:p>
          </p:txBody>
        </p:sp>
      </p:grpSp>
      <p:sp>
        <p:nvSpPr>
          <p:cNvPr id="13" name="Freeform 13"/>
          <p:cNvSpPr/>
          <p:nvPr/>
        </p:nvSpPr>
        <p:spPr>
          <a:xfrm>
            <a:off x="0" y="0"/>
            <a:ext cx="2541117" cy="1354278"/>
          </a:xfrm>
          <a:custGeom>
            <a:avLst/>
            <a:gdLst/>
            <a:ahLst/>
            <a:cxnLst/>
            <a:rect l="l" t="t" r="r" b="b"/>
            <a:pathLst>
              <a:path w="2541117" h="1354278">
                <a:moveTo>
                  <a:pt x="0" y="0"/>
                </a:moveTo>
                <a:lnTo>
                  <a:pt x="2541117" y="0"/>
                </a:lnTo>
                <a:lnTo>
                  <a:pt x="2541117" y="1354278"/>
                </a:lnTo>
                <a:lnTo>
                  <a:pt x="0" y="13542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631159" y="1424869"/>
            <a:ext cx="5880623" cy="7833431"/>
          </a:xfrm>
          <a:custGeom>
            <a:avLst/>
            <a:gdLst/>
            <a:ahLst/>
            <a:cxnLst/>
            <a:rect l="l" t="t" r="r" b="b"/>
            <a:pathLst>
              <a:path w="5880623" h="7833431">
                <a:moveTo>
                  <a:pt x="0" y="0"/>
                </a:moveTo>
                <a:lnTo>
                  <a:pt x="5880623" y="0"/>
                </a:lnTo>
                <a:lnTo>
                  <a:pt x="5880623" y="7833431"/>
                </a:lnTo>
                <a:lnTo>
                  <a:pt x="0" y="78334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182761" b="-19402"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b="1"/>
              </a:stretch>
            </a:blipFill>
          </p:spPr>
        </p:sp>
      </p:grpSp>
      <p:sp>
        <p:nvSpPr>
          <p:cNvPr id="17" name="Freeform 17"/>
          <p:cNvSpPr/>
          <p:nvPr/>
        </p:nvSpPr>
        <p:spPr>
          <a:xfrm>
            <a:off x="6754403" y="1643063"/>
            <a:ext cx="9769141" cy="3467929"/>
          </a:xfrm>
          <a:custGeom>
            <a:avLst/>
            <a:gdLst/>
            <a:ahLst/>
            <a:cxnLst/>
            <a:rect l="l" t="t" r="r" b="b"/>
            <a:pathLst>
              <a:path w="9769141" h="3467929">
                <a:moveTo>
                  <a:pt x="0" y="0"/>
                </a:moveTo>
                <a:lnTo>
                  <a:pt x="9769141" y="0"/>
                </a:lnTo>
                <a:lnTo>
                  <a:pt x="9769141" y="3467928"/>
                </a:lnTo>
                <a:lnTo>
                  <a:pt x="0" y="34679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7006" t="-1145" r="-643" b="-148659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id="18" name="Freeform 18"/>
          <p:cNvSpPr/>
          <p:nvPr/>
        </p:nvSpPr>
        <p:spPr>
          <a:xfrm>
            <a:off x="6862305" y="5455505"/>
            <a:ext cx="4915996" cy="3732124"/>
          </a:xfrm>
          <a:custGeom>
            <a:avLst/>
            <a:gdLst/>
            <a:ahLst/>
            <a:cxnLst/>
            <a:rect l="l" t="t" r="r" b="b"/>
            <a:pathLst>
              <a:path w="4915996" h="3732124">
                <a:moveTo>
                  <a:pt x="0" y="0"/>
                </a:moveTo>
                <a:lnTo>
                  <a:pt x="4915996" y="0"/>
                </a:lnTo>
                <a:lnTo>
                  <a:pt x="4915996" y="3732124"/>
                </a:lnTo>
                <a:lnTo>
                  <a:pt x="0" y="37321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13283" t="-91661" r="-100000" b="-4046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grpSp>
        <p:nvGrpSpPr>
          <p:cNvPr id="19" name="Group 19"/>
          <p:cNvGrpSpPr/>
          <p:nvPr/>
        </p:nvGrpSpPr>
        <p:grpSpPr>
          <a:xfrm>
            <a:off x="11887629" y="5455505"/>
            <a:ext cx="6157274" cy="3732124"/>
            <a:chOff x="0" y="0"/>
            <a:chExt cx="1621669" cy="98294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621669" cy="982946"/>
            </a:xfrm>
            <a:custGeom>
              <a:avLst/>
              <a:gdLst/>
              <a:ahLst/>
              <a:cxnLst/>
              <a:rect l="l" t="t" r="r" b="b"/>
              <a:pathLst>
                <a:path w="1621669" h="982946">
                  <a:moveTo>
                    <a:pt x="18860" y="0"/>
                  </a:moveTo>
                  <a:lnTo>
                    <a:pt x="1602809" y="0"/>
                  </a:lnTo>
                  <a:cubicBezTo>
                    <a:pt x="1613225" y="0"/>
                    <a:pt x="1621669" y="8444"/>
                    <a:pt x="1621669" y="18860"/>
                  </a:cubicBezTo>
                  <a:lnTo>
                    <a:pt x="1621669" y="964086"/>
                  </a:lnTo>
                  <a:cubicBezTo>
                    <a:pt x="1621669" y="974502"/>
                    <a:pt x="1613225" y="982946"/>
                    <a:pt x="1602809" y="982946"/>
                  </a:cubicBezTo>
                  <a:lnTo>
                    <a:pt x="18860" y="982946"/>
                  </a:lnTo>
                  <a:cubicBezTo>
                    <a:pt x="8444" y="982946"/>
                    <a:pt x="0" y="974502"/>
                    <a:pt x="0" y="964086"/>
                  </a:cubicBezTo>
                  <a:lnTo>
                    <a:pt x="0" y="18860"/>
                  </a:lnTo>
                  <a:cubicBezTo>
                    <a:pt x="0" y="8444"/>
                    <a:pt x="8444" y="0"/>
                    <a:pt x="1886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1621669" cy="10019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1992299" y="5886181"/>
            <a:ext cx="5947935" cy="3162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8268" lvl="1" indent="-209134" algn="l">
              <a:lnSpc>
                <a:spcPts val="2324"/>
              </a:lnSpc>
              <a:buFont typeface="Arial"/>
              <a:buChar char="•"/>
            </a:pPr>
            <a:r>
              <a:rPr lang="en-US" sz="193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Safer Communities: Earlier warnings, faster preparedness.</a:t>
            </a:r>
          </a:p>
          <a:p>
            <a:pPr marL="418268" lvl="1" indent="-209134" algn="l">
              <a:lnSpc>
                <a:spcPts val="2324"/>
              </a:lnSpc>
              <a:buFont typeface="Arial"/>
              <a:buChar char="•"/>
            </a:pPr>
            <a:r>
              <a:rPr lang="en-US" sz="193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Smarter Decisions:  Real-time risk insights for authorities.</a:t>
            </a:r>
          </a:p>
          <a:p>
            <a:pPr marL="418268" lvl="1" indent="-209134" algn="l">
              <a:lnSpc>
                <a:spcPts val="2324"/>
              </a:lnSpc>
              <a:buFont typeface="Arial"/>
              <a:buChar char="•"/>
            </a:pPr>
            <a:r>
              <a:rPr lang="en-US" sz="193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Inclusive Access: Multilingual, localized AI guidance.</a:t>
            </a:r>
          </a:p>
          <a:p>
            <a:pPr marL="418268" lvl="1" indent="-209134" algn="l">
              <a:lnSpc>
                <a:spcPts val="2324"/>
              </a:lnSpc>
              <a:buFont typeface="Arial"/>
              <a:buChar char="•"/>
            </a:pPr>
            <a:r>
              <a:rPr lang="en-US" sz="193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Lower Losses : Reduced disaster damage &amp; recovery costs.</a:t>
            </a:r>
          </a:p>
          <a:p>
            <a:pPr marL="418268" lvl="1" indent="-209134" algn="l">
              <a:lnSpc>
                <a:spcPts val="2324"/>
              </a:lnSpc>
              <a:buFont typeface="Arial"/>
              <a:buChar char="•"/>
            </a:pPr>
            <a:r>
              <a:rPr lang="en-US" sz="193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Climate Resilience: Better preparedness for future hazards.</a:t>
            </a:r>
          </a:p>
          <a:p>
            <a:pPr marL="418268" lvl="1" indent="-209134" algn="l">
              <a:lnSpc>
                <a:spcPts val="2324"/>
              </a:lnSpc>
              <a:buFont typeface="Arial"/>
              <a:buChar char="•"/>
            </a:pPr>
            <a:r>
              <a:rPr lang="en-US" sz="193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Scalable Impact: One platform across regions &amp; hazards.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130726" y="5582425"/>
            <a:ext cx="1297322" cy="322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78"/>
              </a:lnSpc>
              <a:spcBef>
                <a:spcPct val="0"/>
              </a:spcBef>
            </a:pPr>
            <a:r>
              <a:rPr lang="en-US" sz="2065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BENEFITS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05840" y="4219565"/>
            <a:ext cx="13895070" cy="712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0095" lvl="1" indent="-380048" algn="just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Details / Links of the reference and research work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6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6408001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@SIH Idea submission- Template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75612" y="359321"/>
            <a:ext cx="1915887" cy="1249099"/>
            <a:chOff x="0" y="0"/>
            <a:chExt cx="2554516" cy="1665465"/>
          </a:xfrm>
        </p:grpSpPr>
        <p:sp>
          <p:nvSpPr>
            <p:cNvPr id="15" name="Freeform 15" descr="Your startup LOGO"/>
            <p:cNvSpPr/>
            <p:nvPr/>
          </p:nvSpPr>
          <p:spPr>
            <a:xfrm>
              <a:off x="0" y="0"/>
              <a:ext cx="2554478" cy="1665478"/>
            </a:xfrm>
            <a:custGeom>
              <a:avLst/>
              <a:gdLst/>
              <a:ahLst/>
              <a:cxnLst/>
              <a:rect l="l" t="t" r="r" b="b"/>
              <a:pathLst>
                <a:path w="2554478" h="1665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Your Team Name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6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6408001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@SIH Idea submission- Template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0" y="0"/>
            <a:ext cx="2541117" cy="1354278"/>
          </a:xfrm>
          <a:custGeom>
            <a:avLst/>
            <a:gdLst/>
            <a:ahLst/>
            <a:cxnLst/>
            <a:rect l="l" t="t" r="r" b="b"/>
            <a:pathLst>
              <a:path w="2541117" h="1354278">
                <a:moveTo>
                  <a:pt x="0" y="0"/>
                </a:moveTo>
                <a:lnTo>
                  <a:pt x="2541117" y="0"/>
                </a:lnTo>
                <a:lnTo>
                  <a:pt x="2541117" y="1354278"/>
                </a:lnTo>
                <a:lnTo>
                  <a:pt x="0" y="13542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731527" y="1633537"/>
            <a:ext cx="16315983" cy="409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AND REFERENCES</a:t>
            </a:r>
          </a:p>
          <a:p>
            <a:pPr algn="l">
              <a:lnSpc>
                <a:spcPts val="2999"/>
              </a:lnSpc>
            </a:pPr>
            <a:endParaRPr lang="en-US" sz="2499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Hassan et al., “Machine Learning-Based Rainfall Prediction: Unveiling Insights and Forecasting for Improved Preparedness,” IEEE Access, 2023.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Demonstrates ML-based rainfall prediction for proactive preparedness, supporting our AI risk-prediction layer. (Mendeley)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IEEE Xplore- Research Paper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“Prediction of Flooding Due to Heavy Rainfall in India Using Machine Learning Algorithms: Providing Advanced Warning,” IEEE, 2022.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ML + rainfall data for flood prediction and advanced warning, directly supporting our impact-based early-warning approach. (ieeexplore.ieee.org)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IEEE Xplore- Research Paper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31527" y="6506766"/>
            <a:ext cx="16824945" cy="2609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NEWS / ARTICLES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India Faces Weakest Monsoon in Nearly Two Decades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Highlights the real-world impact of rainfall variability on agriculture, food prices and rural livelihoods.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Reuters Article 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India’s Capital: Extreme Heat to Heavy Floods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Demonstrates the need for timely, localized weather intelligence and preparedness during rapidly changing extreme-weather events.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Reuters Article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7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6408001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@SIH Idea submission- Template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-28575" y="2657970"/>
            <a:ext cx="18345150" cy="6535950"/>
            <a:chOff x="0" y="0"/>
            <a:chExt cx="24460200" cy="87146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4460200" cy="8714613"/>
            </a:xfrm>
            <a:custGeom>
              <a:avLst/>
              <a:gdLst/>
              <a:ahLst/>
              <a:cxnLst/>
              <a:rect l="l" t="t" r="r" b="b"/>
              <a:pathLst>
                <a:path w="24460200" h="8714613">
                  <a:moveTo>
                    <a:pt x="1452499" y="0"/>
                  </a:moveTo>
                  <a:lnTo>
                    <a:pt x="24460200" y="0"/>
                  </a:lnTo>
                  <a:lnTo>
                    <a:pt x="24460200" y="7262114"/>
                  </a:lnTo>
                  <a:cubicBezTo>
                    <a:pt x="24460200" y="8064246"/>
                    <a:pt x="23809961" y="8714613"/>
                    <a:pt x="23007701" y="8714613"/>
                  </a:cubicBezTo>
                  <a:lnTo>
                    <a:pt x="0" y="8714613"/>
                  </a:lnTo>
                  <a:lnTo>
                    <a:pt x="0" y="1452499"/>
                  </a:lnTo>
                  <a:cubicBezTo>
                    <a:pt x="0" y="650240"/>
                    <a:pt x="650240" y="0"/>
                    <a:pt x="1452499" y="0"/>
                  </a:cubicBezTo>
                  <a:close/>
                </a:path>
              </a:pathLst>
            </a:custGeom>
            <a:solidFill>
              <a:srgbClr val="DCE6F2"/>
            </a:solidFill>
            <a:ln w="57150" cap="sq">
              <a:solidFill>
                <a:srgbClr val="4A7EBB"/>
              </a:solidFill>
              <a:prstDash val="solid"/>
              <a:miter/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643176" y="2928404"/>
            <a:ext cx="17464249" cy="6004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8632" lvl="1" indent="-244316" algn="just">
              <a:lnSpc>
                <a:spcPts val="2916"/>
              </a:lnSpc>
              <a:buAutoNum type="arabicPeriod"/>
            </a:pPr>
            <a:r>
              <a:rPr lang="en-US" sz="27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Kindly keep the maximum slides limit up to six </a:t>
            </a:r>
            <a:r>
              <a:rPr lang="en-US" sz="2700" b="1">
                <a:solidFill>
                  <a:srgbClr val="C00000"/>
                </a:solidFill>
                <a:latin typeface="Arial Bold"/>
                <a:ea typeface="Arial Bold"/>
                <a:cs typeface="Arial Bold"/>
                <a:sym typeface="Arial Bold"/>
              </a:rPr>
              <a:t>(6). </a:t>
            </a:r>
            <a:r>
              <a:rPr lang="en-US" sz="27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( Including the title slide) </a:t>
            </a:r>
          </a:p>
          <a:p>
            <a:pPr marL="488632" lvl="1" indent="-244316" algn="just">
              <a:lnSpc>
                <a:spcPts val="2916"/>
              </a:lnSpc>
              <a:buAutoNum type="arabicPeriod"/>
            </a:pPr>
            <a:r>
              <a:rPr lang="en-US" sz="27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Try to avoid paragraphs and post your idea in points /diagrams / Infographics /pictures </a:t>
            </a:r>
          </a:p>
          <a:p>
            <a:pPr marL="488632" lvl="1" indent="-244316" algn="just">
              <a:lnSpc>
                <a:spcPts val="2916"/>
              </a:lnSpc>
              <a:buAutoNum type="arabicPeriod"/>
            </a:pPr>
            <a:r>
              <a:rPr lang="en-US" sz="27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Keep your explanation precise and easy to understand</a:t>
            </a:r>
          </a:p>
          <a:p>
            <a:pPr marL="488632" lvl="1" indent="-244316" algn="just">
              <a:lnSpc>
                <a:spcPts val="2916"/>
              </a:lnSpc>
              <a:buAutoNum type="arabicPeriod"/>
            </a:pPr>
            <a:r>
              <a:rPr lang="en-US" sz="27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Idea should be unique and novel. </a:t>
            </a:r>
          </a:p>
          <a:p>
            <a:pPr marL="488632" lvl="1" indent="-244316" algn="just">
              <a:lnSpc>
                <a:spcPts val="2916"/>
              </a:lnSpc>
              <a:buAutoNum type="arabicPeriod"/>
            </a:pPr>
            <a:r>
              <a:rPr lang="en-US" sz="27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You can only use provided template for making the PPT without changing the idea details pointers (mentioned in previous slides).</a:t>
            </a:r>
          </a:p>
          <a:p>
            <a:pPr marL="488632" lvl="1" indent="-244316" algn="just">
              <a:lnSpc>
                <a:spcPts val="2916"/>
              </a:lnSpc>
              <a:buAutoNum type="arabicPeriod"/>
            </a:pPr>
            <a:r>
              <a:rPr lang="en-US" sz="27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You need to save the file in PDF and upload the same on portal. No PPT, Word Doc or any other format will be supported.</a:t>
            </a:r>
          </a:p>
          <a:p>
            <a:pPr marL="488632" lvl="1" indent="-244316" algn="just">
              <a:lnSpc>
                <a:spcPts val="2916"/>
              </a:lnSpc>
            </a:pPr>
            <a:endParaRPr lang="en-US" sz="2700" b="1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488632" lvl="1" indent="-244316" algn="just">
              <a:lnSpc>
                <a:spcPts val="2916"/>
              </a:lnSpc>
            </a:pPr>
            <a:r>
              <a:rPr lang="en-US" sz="2700" b="1">
                <a:solidFill>
                  <a:srgbClr val="C00000"/>
                </a:solidFill>
                <a:latin typeface="Arial Bold"/>
                <a:ea typeface="Arial Bold"/>
                <a:cs typeface="Arial Bold"/>
                <a:sym typeface="Arial Bold"/>
              </a:rPr>
              <a:t>Note - You can delete this slide (Important Pointers) when you upload the details of your idea on SIH portal.</a:t>
            </a:r>
          </a:p>
          <a:p>
            <a:pPr marL="488632" lvl="1" indent="-244316" algn="just">
              <a:lnSpc>
                <a:spcPts val="2916"/>
              </a:lnSpc>
            </a:pPr>
            <a:endParaRPr lang="en-US" sz="2700" b="1">
              <a:solidFill>
                <a:srgbClr val="C00000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2181501" y="177746"/>
            <a:ext cx="12432925" cy="906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IMPORTANT INSTRUCTIONS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94953" y="1828095"/>
            <a:ext cx="14153607" cy="411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16"/>
              </a:lnSpc>
            </a:pPr>
            <a:r>
              <a:rPr lang="en-US" sz="27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Please ensure below pointers are met while submitting the Idea PPT: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11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Code Show </dc:title>
  <cp:revision>480</cp:revision>
  <dcterms:created xsi:type="dcterms:W3CDTF">2006-08-16T00:00:00Z</dcterms:created>
  <dcterms:modified xsi:type="dcterms:W3CDTF">2026-09-07T05:40:47Z</dcterms:modified>
  <dc:identifier>DAHTstSq_E8</dc:identifier>
</cp:coreProperties>
</file>