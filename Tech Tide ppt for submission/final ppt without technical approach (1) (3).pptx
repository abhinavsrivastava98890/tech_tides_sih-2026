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7" r:id="rId4"/>
    <p:sldId id="262" r:id="rId5"/>
    <p:sldId id="264" r:id="rId6"/>
    <p:sldId id="266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Garamond Bold" panose="02020804030307010803" pitchFamily="18" charset="0"/>
      <p:regular r:id="rId11"/>
      <p:bold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pitchFamily="2" charset="0"/>
      <p:bold r:id="rId17"/>
    </p:embeddedFont>
    <p:embeddedFont>
      <p:font typeface="Montserrat Regular" panose="00000500000000000000" pitchFamily="2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01" dt="2026-09-07T19:19:06.600"/>
    <p1510:client id="{0FF00CD0-D4DD-4CEB-966F-5F9E7D743745}" v="13" dt="2026-09-09T01:48:37.141"/>
    <p1510:client id="{3B2F2D68-1591-46F8-928C-C2923B39ECDC}" v="60" dt="2026-09-08T02:55:38.553"/>
    <p1510:client id="{5F8DAAB5-8D65-451E-94DB-78321267EA82}" v="19" dt="2026-09-08T03:08:25.329"/>
    <p1510:client id="{797E4A7B-DF87-026D-7EDC-84398DF72F33}" v="220" dt="2026-09-07T21:02:14.582"/>
    <p1510:client id="{90A3591C-F851-4D27-B1C0-3F896D041885}" v="18" dt="2026-09-09T03:36:04.327"/>
    <p1510:client id="{DECC1934-1B39-D3B6-9825-63022A413E4B}" v="177" dt="2026-09-07T14:28:21.731"/>
    <p1510:client id="{FB465460-CF49-E30A-3E28-8F229E2EE9A3}" v="202" dt="2026-09-07T13:01:25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finance.jharkhand.gov.in/pdf/JES_ExecutiveSummary2025_26.pdf?utm_source=chatgpt.com" TargetMode="External"/><Relationship Id="rId13" Type="http://schemas.openxmlformats.org/officeDocument/2006/relationships/hyperlink" Target="https://www.who.int/teams/environment-climate-change-and-health/water-sanitation-and-health/chemical-hazards-in-drinking-water/nitrate-nitrite?utm_source=chatgpt.com" TargetMode="External"/><Relationship Id="rId18" Type="http://schemas.openxmlformats.org/officeDocument/2006/relationships/hyperlink" Target="https://stacks.cdc.gov/view/cdc/212056?utm_source=chatgpt.com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cgwb.gov.in/index.php/en/ground-water-quality?utm_source=chatgpt.com" TargetMode="External"/><Relationship Id="rId12" Type="http://schemas.openxmlformats.org/officeDocument/2006/relationships/hyperlink" Target="https://www.who.int/publications/m/item/chemical-fact-sheets--fluoride?utm_source=chatgpt.com" TargetMode="External"/><Relationship Id="rId17" Type="http://schemas.openxmlformats.org/officeDocument/2006/relationships/hyperlink" Target="https://www.epa.gov/sdwa/overview-drinking-water-treatment-technologies?utm_source=chatgpt.com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www.cdc.gov/drinking-water/about/about-home-water-treatment-systems.html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jalshakti.gov.in/WQMIS/Main?utm_source=chatgpt.com" TargetMode="External"/><Relationship Id="rId11" Type="http://schemas.openxmlformats.org/officeDocument/2006/relationships/hyperlink" Target="https://www.who.int/news-room/fact-sheets/detail/arsenic?utm_source=chatgpt.com" TargetMode="External"/><Relationship Id="rId5" Type="http://schemas.openxmlformats.org/officeDocument/2006/relationships/hyperlink" Target="https://jharkhand.gov.in/drinking-water?utm_source=chatgpt.com" TargetMode="External"/><Relationship Id="rId15" Type="http://schemas.openxmlformats.org/officeDocument/2006/relationships/hyperlink" Target="https://www.who.int/teams/environment-climate-change-and-health/water-sanitation-and-health/chemical-hazards-in-drinking-water?utm_source=chatgpt.com" TargetMode="External"/><Relationship Id="rId10" Type="http://schemas.openxmlformats.org/officeDocument/2006/relationships/hyperlink" Target="https://www.who.int/publications/i/item/9789240121225?utm_source=chatgpt.com" TargetMode="External"/><Relationship Id="rId19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hyperlink" Target="https://standards.bis.gov.in/" TargetMode="External"/><Relationship Id="rId14" Type="http://schemas.openxmlformats.org/officeDocument/2006/relationships/hyperlink" Target="https://www.who.int/teams/environment-climate-change-and-health/water-sanitation-and-health/chemical-hazards-in-drinking-water/uranium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4209" y="15920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87333" y="3153600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Calibri"/>
                <a:cs typeface="Times New Roman Bold"/>
              </a:rPr>
              <a:t>TECH TIDE &lt;/&gt;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1668" y="-574790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87153" y="1756906"/>
            <a:ext cx="11404074" cy="793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651510" lvl="1" indent="-325755" algn="just">
              <a:lnSpc>
                <a:spcPct val="2000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SIH26040</a:t>
            </a: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>
                <a:solidFill>
                  <a:srgbClr val="000000"/>
                </a:solidFill>
                <a:latin typeface="Arial Bold"/>
                <a:ea typeface="+mn-lt"/>
                <a:cs typeface="Arial Bold"/>
                <a:sym typeface="Arial Bold"/>
              </a:rPr>
              <a:t>Smart Water Purification and Quality Monitoring System for Rural and Mining-Affected Areas.</a:t>
            </a:r>
            <a:endParaRPr lang="en-US" sz="3200">
              <a:solidFill>
                <a:srgbClr val="000000"/>
              </a:solidFill>
              <a:latin typeface="Arial Bold"/>
              <a:ea typeface="+mn-lt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 </a:t>
            </a:r>
            <a:r>
              <a:rPr lang="en-US" sz="3600">
                <a:solidFill>
                  <a:srgbClr val="212529"/>
                </a:solidFill>
                <a:latin typeface="Arial Bold"/>
                <a:ea typeface="+mn-lt"/>
                <a:cs typeface="Arial Bold"/>
                <a:sym typeface="Arial Bold"/>
              </a:rPr>
              <a:t>Clean &amp; Green Technology</a:t>
            </a: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Tech Tide &lt;/&gt;</a:t>
            </a: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5051129" y="2248"/>
            <a:ext cx="2993774" cy="14411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15117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236352" y="15240"/>
            <a:ext cx="2655408" cy="1305488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1633515" y="1674712"/>
            <a:ext cx="6490545" cy="3461852"/>
            <a:chOff x="0" y="0"/>
            <a:chExt cx="11533782" cy="367385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533782" cy="3673857"/>
              <a:chOff x="0" y="0"/>
              <a:chExt cx="2278278" cy="725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78278" cy="725700"/>
              </a:xfrm>
              <a:custGeom>
                <a:avLst/>
                <a:gdLst/>
                <a:ahLst/>
                <a:cxnLst/>
                <a:rect l="l" t="t" r="r" b="b"/>
                <a:pathLst>
                  <a:path w="2278278" h="725700">
                    <a:moveTo>
                      <a:pt x="13425" y="0"/>
                    </a:moveTo>
                    <a:lnTo>
                      <a:pt x="2264853" y="0"/>
                    </a:lnTo>
                    <a:cubicBezTo>
                      <a:pt x="2272267" y="0"/>
                      <a:pt x="2278278" y="6010"/>
                      <a:pt x="2278278" y="13425"/>
                    </a:cubicBezTo>
                    <a:lnTo>
                      <a:pt x="2278278" y="712275"/>
                    </a:lnTo>
                    <a:cubicBezTo>
                      <a:pt x="2278278" y="715836"/>
                      <a:pt x="2276863" y="719250"/>
                      <a:pt x="2274346" y="721768"/>
                    </a:cubicBezTo>
                    <a:cubicBezTo>
                      <a:pt x="2271828" y="724286"/>
                      <a:pt x="2268413" y="725700"/>
                      <a:pt x="2264853" y="725700"/>
                    </a:cubicBezTo>
                    <a:lnTo>
                      <a:pt x="13425" y="725700"/>
                    </a:lnTo>
                    <a:cubicBezTo>
                      <a:pt x="9864" y="725700"/>
                      <a:pt x="6450" y="724286"/>
                      <a:pt x="3932" y="721768"/>
                    </a:cubicBezTo>
                    <a:cubicBezTo>
                      <a:pt x="1414" y="719250"/>
                      <a:pt x="0" y="715836"/>
                      <a:pt x="0" y="712275"/>
                    </a:cubicBezTo>
                    <a:lnTo>
                      <a:pt x="0" y="13425"/>
                    </a:lnTo>
                    <a:cubicBezTo>
                      <a:pt x="0" y="9864"/>
                      <a:pt x="1414" y="6450"/>
                      <a:pt x="3932" y="3932"/>
                    </a:cubicBezTo>
                    <a:cubicBezTo>
                      <a:pt x="6450" y="1414"/>
                      <a:pt x="9864" y="0"/>
                      <a:pt x="13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2278278" cy="74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86535" y="180289"/>
              <a:ext cx="10997338" cy="3294175"/>
              <a:chOff x="0" y="0"/>
              <a:chExt cx="2064223" cy="6183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64223" cy="618323"/>
              </a:xfrm>
              <a:custGeom>
                <a:avLst/>
                <a:gdLst/>
                <a:ahLst/>
                <a:cxnLst/>
                <a:rect l="l" t="t" r="r" b="b"/>
                <a:pathLst>
                  <a:path w="2064223" h="618323">
                    <a:moveTo>
                      <a:pt x="939" y="0"/>
                    </a:moveTo>
                    <a:lnTo>
                      <a:pt x="2063284" y="0"/>
                    </a:lnTo>
                    <a:cubicBezTo>
                      <a:pt x="2063533" y="0"/>
                      <a:pt x="2063772" y="99"/>
                      <a:pt x="2063948" y="275"/>
                    </a:cubicBezTo>
                    <a:cubicBezTo>
                      <a:pt x="2064124" y="451"/>
                      <a:pt x="2064223" y="690"/>
                      <a:pt x="2064223" y="939"/>
                    </a:cubicBezTo>
                    <a:lnTo>
                      <a:pt x="2064223" y="617385"/>
                    </a:lnTo>
                    <a:cubicBezTo>
                      <a:pt x="2064223" y="617634"/>
                      <a:pt x="2064124" y="617872"/>
                      <a:pt x="2063948" y="618048"/>
                    </a:cubicBezTo>
                    <a:cubicBezTo>
                      <a:pt x="2063772" y="618224"/>
                      <a:pt x="2063533" y="618323"/>
                      <a:pt x="2063284" y="618323"/>
                    </a:cubicBezTo>
                    <a:lnTo>
                      <a:pt x="939" y="618323"/>
                    </a:lnTo>
                    <a:cubicBezTo>
                      <a:pt x="690" y="618323"/>
                      <a:pt x="451" y="618224"/>
                      <a:pt x="275" y="618048"/>
                    </a:cubicBezTo>
                    <a:cubicBezTo>
                      <a:pt x="99" y="617872"/>
                      <a:pt x="0" y="617634"/>
                      <a:pt x="0" y="617385"/>
                    </a:cubicBezTo>
                    <a:lnTo>
                      <a:pt x="0" y="939"/>
                    </a:lnTo>
                    <a:cubicBezTo>
                      <a:pt x="0" y="690"/>
                      <a:pt x="99" y="451"/>
                      <a:pt x="275" y="275"/>
                    </a:cubicBezTo>
                    <a:cubicBezTo>
                      <a:pt x="451" y="99"/>
                      <a:pt x="690" y="0"/>
                      <a:pt x="9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2064223" cy="637373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-306358" y="5791024"/>
            <a:ext cx="7405052" cy="3947693"/>
            <a:chOff x="0" y="-96441"/>
            <a:chExt cx="12262140" cy="663864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-96441"/>
              <a:ext cx="12262140" cy="6638641"/>
              <a:chOff x="0" y="-19050"/>
              <a:chExt cx="2422151" cy="131133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1763" y="5774"/>
                <a:ext cx="2300388" cy="1286513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04630" y="215254"/>
              <a:ext cx="11691820" cy="5888937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806130" y="139753"/>
            <a:ext cx="10668459" cy="1361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>
                <a:solidFill>
                  <a:srgbClr val="000000"/>
                </a:solidFill>
                <a:latin typeface="Arial Bold"/>
                <a:ea typeface="+mn-lt"/>
                <a:cs typeface="Arial Bold"/>
                <a:sym typeface="Canva Sans Bold"/>
              </a:rPr>
              <a:t>IoT-Based Real-Time Water Quality Detection, Treatment &amp; Alert System</a:t>
            </a:r>
            <a:endParaRPr lang="en-US" sz="3600">
              <a:latin typeface="Arial Bold"/>
              <a:ea typeface="Calibri"/>
              <a:cs typeface="Arial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902600" y="1677590"/>
            <a:ext cx="312757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>
                <a:solidFill>
                  <a:srgbClr val="1F497D"/>
                </a:solidFill>
                <a:latin typeface="Times New Roman"/>
                <a:ea typeface="Arimo Bold"/>
                <a:cs typeface="Times New Roman"/>
                <a:sym typeface="Arimo Bold"/>
              </a:rPr>
              <a:t>Idea / Solution</a:t>
            </a:r>
            <a:endParaRPr lang="en-US" sz="3200" b="1">
              <a:solidFill>
                <a:srgbClr val="1F497D"/>
              </a:solidFill>
              <a:latin typeface="Times New Roman"/>
              <a:ea typeface="Arimo Bold"/>
              <a:cs typeface="Times New Roman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719706" y="2075851"/>
            <a:ext cx="639355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Monitoring: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pH,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TDS, turbidity &amp; temperature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Jharkhand-Specific Module: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Local contaminants → targeted treatment </a:t>
            </a:r>
            <a:endParaRPr lang="en-US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Smart Control: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ESP32 + pump + valves </a:t>
            </a:r>
            <a:endParaRPr lang="en-US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Multi-Stage Treatment: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Filtration +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UV </a:t>
            </a:r>
            <a:endParaRPr lang="en-US">
              <a:sym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Re-check: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Post-treatment verification </a:t>
            </a:r>
            <a:endParaRPr lang="en-US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Reject &amp; Alert: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Unsafe water →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divert + alert</a:t>
            </a:r>
            <a:endParaRPr lang="en-US">
              <a:sym typeface="Times New Roman"/>
            </a:endParaRPr>
          </a:p>
          <a:p>
            <a:pPr algn="l">
              <a:lnSpc>
                <a:spcPts val="3048"/>
              </a:lnSpc>
            </a:pPr>
            <a:endParaRPr lang="en-US" sz="25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83215" y="6338663"/>
            <a:ext cx="7168110" cy="3139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Our system integrates real-time water quality sensing, intelligent treatment control and user alerts into a single closed-loop platform.</a:t>
            </a:r>
            <a:endParaRPr lang="en-US" sz="2550">
              <a:solidFill>
                <a:srgbClr val="000000"/>
              </a:solidFill>
              <a:latin typeface="Calibri"/>
              <a:ea typeface="Calibr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Sensors</a:t>
            </a:r>
            <a:r>
              <a:rPr lang="en-US"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continuously monitor water quality → </a:t>
            </a:r>
            <a:r>
              <a:rPr lang="en-US"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ESP32/controller</a:t>
            </a:r>
            <a:r>
              <a:rPr lang="en-US"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analyses the readings → </a:t>
            </a:r>
            <a:r>
              <a:rPr lang="en-US"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filtration/disinfection stages</a:t>
            </a:r>
            <a:r>
              <a:rPr lang="en-US"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activated as required → water is </a:t>
            </a:r>
            <a:r>
              <a:rPr lang="en-US" sz="25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re-tested</a:t>
            </a:r>
            <a:r>
              <a:rPr lang="en-US"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before being classified as acceptable.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635843" y="-452412"/>
            <a:ext cx="10993776" cy="10191725"/>
            <a:chOff x="-5005354" y="231490"/>
            <a:chExt cx="12544638" cy="15548917"/>
          </a:xfrm>
        </p:grpSpPr>
        <p:sp>
          <p:nvSpPr>
            <p:cNvPr id="43" name="Freeform 43"/>
            <p:cNvSpPr/>
            <p:nvPr/>
          </p:nvSpPr>
          <p:spPr>
            <a:xfrm>
              <a:off x="-5005354" y="9020307"/>
              <a:ext cx="7487483" cy="6760100"/>
            </a:xfrm>
            <a:custGeom>
              <a:avLst/>
              <a:gdLst/>
              <a:ahLst/>
              <a:cxnLst/>
              <a:rect l="l" t="t" r="r" b="b"/>
              <a:pathLst>
                <a:path w="1522224" h="1340317">
                  <a:moveTo>
                    <a:pt x="20093" y="0"/>
                  </a:moveTo>
                  <a:lnTo>
                    <a:pt x="1502131" y="0"/>
                  </a:lnTo>
                  <a:cubicBezTo>
                    <a:pt x="1513228" y="0"/>
                    <a:pt x="1522224" y="8996"/>
                    <a:pt x="1522224" y="20093"/>
                  </a:cubicBezTo>
                  <a:lnTo>
                    <a:pt x="1522224" y="1320225"/>
                  </a:lnTo>
                  <a:cubicBezTo>
                    <a:pt x="1522224" y="1331322"/>
                    <a:pt x="1513228" y="1340317"/>
                    <a:pt x="1502131" y="1340317"/>
                  </a:cubicBezTo>
                  <a:lnTo>
                    <a:pt x="20093" y="1340317"/>
                  </a:lnTo>
                  <a:cubicBezTo>
                    <a:pt x="8996" y="1340317"/>
                    <a:pt x="0" y="1331322"/>
                    <a:pt x="0" y="1320225"/>
                  </a:cubicBezTo>
                  <a:lnTo>
                    <a:pt x="0" y="20093"/>
                  </a:lnTo>
                  <a:cubicBezTo>
                    <a:pt x="0" y="8996"/>
                    <a:pt x="8996" y="0"/>
                    <a:pt x="20093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1448" y="231490"/>
              <a:ext cx="7347836" cy="6185602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0" name="TextBox 37">
            <a:extLst>
              <a:ext uri="{FF2B5EF4-FFF2-40B4-BE49-F238E27FC236}">
                <a16:creationId xmlns:a16="http://schemas.microsoft.com/office/drawing/2014/main" id="{668B74CA-2FA3-7425-CECA-F5E2260CBF3B}"/>
              </a:ext>
            </a:extLst>
          </p:cNvPr>
          <p:cNvSpPr txBox="1"/>
          <p:nvPr/>
        </p:nvSpPr>
        <p:spPr>
          <a:xfrm>
            <a:off x="-583300" y="5962718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</a:rPr>
              <a:t>Proposed Solution</a:t>
            </a:r>
          </a:p>
        </p:txBody>
      </p:sp>
      <p:grpSp>
        <p:nvGrpSpPr>
          <p:cNvPr id="20" name="Group 27">
            <a:extLst>
              <a:ext uri="{FF2B5EF4-FFF2-40B4-BE49-F238E27FC236}">
                <a16:creationId xmlns:a16="http://schemas.microsoft.com/office/drawing/2014/main" id="{6093464A-3D62-A2C4-0A47-70C2BBC023EA}"/>
              </a:ext>
            </a:extLst>
          </p:cNvPr>
          <p:cNvGrpSpPr/>
          <p:nvPr/>
        </p:nvGrpSpPr>
        <p:grpSpPr>
          <a:xfrm>
            <a:off x="35201" y="1304702"/>
            <a:ext cx="7368539" cy="4493500"/>
            <a:chOff x="-4173" y="-96441"/>
            <a:chExt cx="12489462" cy="7482504"/>
          </a:xfrm>
        </p:grpSpPr>
        <p:grpSp>
          <p:nvGrpSpPr>
            <p:cNvPr id="21" name="Group 28">
              <a:extLst>
                <a:ext uri="{FF2B5EF4-FFF2-40B4-BE49-F238E27FC236}">
                  <a16:creationId xmlns:a16="http://schemas.microsoft.com/office/drawing/2014/main" id="{28C82A6D-E102-E39B-567D-2C6B664423E6}"/>
                </a:ext>
              </a:extLst>
            </p:cNvPr>
            <p:cNvGrpSpPr/>
            <p:nvPr/>
          </p:nvGrpSpPr>
          <p:grpSpPr>
            <a:xfrm>
              <a:off x="-4173" y="-96441"/>
              <a:ext cx="12489462" cy="7482504"/>
              <a:chOff x="-824" y="-19050"/>
              <a:chExt cx="2467054" cy="1478026"/>
            </a:xfrm>
          </p:grpSpPr>
          <p:sp>
            <p:nvSpPr>
              <p:cNvPr id="25" name="Freeform 29">
                <a:extLst>
                  <a:ext uri="{FF2B5EF4-FFF2-40B4-BE49-F238E27FC236}">
                    <a16:creationId xmlns:a16="http://schemas.microsoft.com/office/drawing/2014/main" id="{94D07A97-87A6-CCF6-4199-121794EDCD5F}"/>
                  </a:ext>
                </a:extLst>
              </p:cNvPr>
              <p:cNvSpPr/>
              <p:nvPr/>
            </p:nvSpPr>
            <p:spPr>
              <a:xfrm>
                <a:off x="-824" y="29331"/>
                <a:ext cx="2467054" cy="1429645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30">
                <a:extLst>
                  <a:ext uri="{FF2B5EF4-FFF2-40B4-BE49-F238E27FC236}">
                    <a16:creationId xmlns:a16="http://schemas.microsoft.com/office/drawing/2014/main" id="{E6714A15-66DE-7556-CA61-0384B9F416A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25262B4D-1DAE-C435-266D-8A3C1CAFD819}"/>
                </a:ext>
              </a:extLst>
            </p:cNvPr>
            <p:cNvSpPr txBox="1"/>
            <p:nvPr/>
          </p:nvSpPr>
          <p:spPr>
            <a:xfrm>
              <a:off x="304630" y="215255"/>
              <a:ext cx="11691819" cy="5888936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4" name="TextBox 38">
            <a:extLst>
              <a:ext uri="{FF2B5EF4-FFF2-40B4-BE49-F238E27FC236}">
                <a16:creationId xmlns:a16="http://schemas.microsoft.com/office/drawing/2014/main" id="{0C96891F-E831-00E9-B91D-D64E20877434}"/>
              </a:ext>
            </a:extLst>
          </p:cNvPr>
          <p:cNvSpPr txBox="1"/>
          <p:nvPr/>
        </p:nvSpPr>
        <p:spPr>
          <a:xfrm>
            <a:off x="-119125" y="1905628"/>
            <a:ext cx="7579319" cy="3906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indent="-457200"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Water quality varies significantly: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Conventional purification systems may not detect changing water-quality conditions in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real time. </a:t>
            </a:r>
            <a:endParaRPr lang="en-US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Invisible </a:t>
            </a: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contamination risk: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Users may receive water without knowing 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whether key quality parameters are within acceptable 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limits. </a:t>
            </a:r>
            <a:endParaRPr lang="en-US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No closed-loop response: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Existing systems generally separate </a:t>
            </a: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</a:t>
            </a: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monitoring</a:t>
            </a: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</a:t>
            </a:r>
            <a:r>
              <a:rPr lang="en-US" sz="255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and user alerts</a:t>
            </a:r>
            <a:r>
              <a:rPr lang="en-US" sz="255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, limiting timely intervention.</a:t>
            </a:r>
            <a:endParaRPr lang="en-US" sz="2550">
              <a:ea typeface="+mn-lt"/>
              <a:cs typeface="+mn-lt"/>
            </a:endParaRPr>
          </a:p>
          <a:p>
            <a:pPr marL="555625" lvl="1" indent="-277495" algn="l">
              <a:lnSpc>
                <a:spcPts val="3091"/>
              </a:lnSpc>
              <a:buFont typeface="Arial"/>
              <a:buChar char="•"/>
            </a:pPr>
            <a:endParaRPr lang="en-US" sz="2550">
              <a:solidFill>
                <a:srgbClr val="000000"/>
              </a:solidFill>
              <a:latin typeface="Times New Roman"/>
              <a:ea typeface="Times New Roman Bold"/>
              <a:cs typeface="Times New Roman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9C2077E7-D621-7EED-ED7D-8D3385FC38D4}"/>
              </a:ext>
            </a:extLst>
          </p:cNvPr>
          <p:cNvSpPr txBox="1"/>
          <p:nvPr/>
        </p:nvSpPr>
        <p:spPr>
          <a:xfrm>
            <a:off x="-957895" y="1494804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  <a:endParaRPr lang="en-US" sz="3200" b="1">
              <a:solidFill>
                <a:srgbClr val="1F497D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68020F22-9CF8-FE0C-1CD2-2DEDFB45DFAD}"/>
              </a:ext>
            </a:extLst>
          </p:cNvPr>
          <p:cNvSpPr txBox="1"/>
          <p:nvPr/>
        </p:nvSpPr>
        <p:spPr>
          <a:xfrm>
            <a:off x="11637553" y="5421328"/>
            <a:ext cx="466813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>
                <a:solidFill>
                  <a:srgbClr val="1F497D"/>
                </a:solidFill>
                <a:latin typeface="Times New Roman"/>
                <a:ea typeface="Calibri"/>
                <a:cs typeface="Times New Roman"/>
                <a:sym typeface="Arimo Bold"/>
              </a:rPr>
              <a:t>Innovation</a:t>
            </a:r>
            <a:r>
              <a:rPr lang="en-US" sz="3200" b="1">
                <a:solidFill>
                  <a:srgbClr val="1F497D"/>
                </a:solidFill>
                <a:latin typeface="Times New Roman"/>
                <a:ea typeface="+mn-lt"/>
                <a:cs typeface="Times New Roman"/>
                <a:sym typeface="Arimo Bold"/>
              </a:rPr>
              <a:t> / Uniqueness</a:t>
            </a:r>
          </a:p>
        </p:txBody>
      </p:sp>
      <p:sp>
        <p:nvSpPr>
          <p:cNvPr id="60" name="TextBox 39">
            <a:extLst>
              <a:ext uri="{FF2B5EF4-FFF2-40B4-BE49-F238E27FC236}">
                <a16:creationId xmlns:a16="http://schemas.microsoft.com/office/drawing/2014/main" id="{A11A8590-4F94-FE51-D6A9-26EE75BF3B70}"/>
              </a:ext>
            </a:extLst>
          </p:cNvPr>
          <p:cNvSpPr txBox="1"/>
          <p:nvPr/>
        </p:nvSpPr>
        <p:spPr>
          <a:xfrm>
            <a:off x="11719706" y="5885850"/>
            <a:ext cx="6410117" cy="383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Closed-Loop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Purification</a:t>
            </a:r>
            <a:b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Sense → Treat → Re-check → Deliver/Reject</a:t>
            </a:r>
            <a:endParaRPr lang="en-US" sz="25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800" b="1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Automation</a:t>
            </a:r>
            <a:b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&amp; water flow based on sensor readings.</a:t>
            </a:r>
            <a:endParaRPr lang="en-US" sz="2400"/>
          </a:p>
          <a:p>
            <a:pPr>
              <a:buFont typeface="Arial"/>
              <a:buChar char="•"/>
            </a:pPr>
            <a:endParaRPr lang="en-US" sz="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Safety-Based Rejection</a:t>
            </a:r>
            <a:b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Unsafe water →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Auto-divert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+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Alert</a:t>
            </a:r>
            <a:endParaRPr lang="en-US">
              <a:sym typeface="Times New Roman"/>
            </a:endParaRPr>
          </a:p>
          <a:p>
            <a:pPr>
              <a:buFont typeface="Arial"/>
              <a:buChar char="•"/>
            </a:pPr>
            <a:endParaRPr lang="en-US" sz="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Integrated Monitoring</a:t>
            </a:r>
            <a:b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Sensors + Treatment + Alerts + Data Logging</a:t>
            </a:r>
            <a:endParaRPr lang="en-US">
              <a:solidFill>
                <a:srgbClr val="000000"/>
              </a:solidFill>
              <a:ea typeface="+mn-lt"/>
              <a:cs typeface="+mn-lt"/>
              <a:sym typeface="Times New Roman Bold"/>
            </a:endParaRPr>
          </a:p>
          <a:p>
            <a:r>
              <a:rPr lang="en-US" sz="250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  (in one system).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57A47-55A2-BD06-71D1-FBAB0A6E6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836" y="1920240"/>
            <a:ext cx="4906288" cy="7071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CD5BD2-A30A-4C69-1571-471875F27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6712" y="-741423"/>
            <a:ext cx="4518446" cy="2690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B5120B-E01E-156D-AF0E-6D599498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32" y="-6560"/>
            <a:ext cx="18298064" cy="10300119"/>
          </a:xfrm>
          <a:prstGeom prst="rect">
            <a:avLst/>
          </a:prstGeom>
        </p:spPr>
      </p:pic>
      <p:pic>
        <p:nvPicPr>
          <p:cNvPr id="3" name="Picture 2" descr="A logo with a blue and white design&#10;&#10;AI-generated content may be incorrect.">
            <a:extLst>
              <a:ext uri="{FF2B5EF4-FFF2-40B4-BE49-F238E27FC236}">
                <a16:creationId xmlns:a16="http://schemas.microsoft.com/office/drawing/2014/main" id="{3AA81932-D8DF-AB60-4D9B-FDFE2348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00"/>
          <a:stretch>
            <a:fillRect/>
          </a:stretch>
        </p:blipFill>
        <p:spPr>
          <a:xfrm>
            <a:off x="-458458" y="-549933"/>
            <a:ext cx="4475423" cy="235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</a:t>
              </a:r>
              <a:r>
                <a:rPr lang="en-US" sz="5400" b="1" dirty="0">
                  <a:solidFill>
                    <a:schemeClr val="tx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</a:t>
              </a: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VIABILITY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3106400" y="9627394"/>
            <a:ext cx="4267200" cy="547688"/>
          </a:xfrm>
          <a:custGeom>
            <a:avLst/>
            <a:gdLst/>
            <a:ahLst/>
            <a:cxnLst/>
            <a:rect l="l" t="t" r="r" b="b"/>
            <a:pathLst>
              <a:path w="5689600" h="730250">
                <a:moveTo>
                  <a:pt x="0" y="0"/>
                </a:moveTo>
                <a:lnTo>
                  <a:pt x="5689600" y="0"/>
                </a:lnTo>
                <a:lnTo>
                  <a:pt x="56896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01813" b="-101813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72300" y="9739312"/>
            <a:ext cx="4806000" cy="547688"/>
          </a:xfrm>
          <a:custGeom>
            <a:avLst/>
            <a:gdLst/>
            <a:ahLst/>
            <a:cxnLst/>
            <a:rect l="l" t="t" r="r" b="b"/>
            <a:pathLst>
              <a:path w="6408000" h="730250">
                <a:moveTo>
                  <a:pt x="0" y="0"/>
                </a:moveTo>
                <a:lnTo>
                  <a:pt x="6408000" y="0"/>
                </a:lnTo>
                <a:lnTo>
                  <a:pt x="64080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20982" b="-120982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5234009" y="-73952"/>
            <a:ext cx="2810894" cy="124298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C0E0B0D-9181-04F6-BE4B-23E5F1893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39" y="1555158"/>
            <a:ext cx="4413211" cy="55505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454B85-7195-E6A8-541E-C92F9E249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697" y="1538592"/>
            <a:ext cx="4504255" cy="5562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F64020-8596-3B9B-BAC3-1C75ABDA5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712" y="1527145"/>
            <a:ext cx="4359405" cy="5559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F20089-7452-7144-0993-B0F4BD16EA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6183" y="1533234"/>
            <a:ext cx="4358966" cy="55688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AFEB11-F901-0524-86E5-2451242049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1739" y="7125048"/>
            <a:ext cx="12355156" cy="14524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B336BB-11AE-67C6-DB86-DC76EA855B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4478" y="8641713"/>
            <a:ext cx="13318436" cy="988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EBC2D3-1E4B-A649-6183-68B39A8D7D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96712" y="-655159"/>
            <a:ext cx="4518446" cy="2690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81270" y="107507"/>
            <a:ext cx="16508895" cy="889512"/>
            <a:chOff x="0" y="548233"/>
            <a:chExt cx="21967642" cy="2943882"/>
          </a:xfrm>
        </p:grpSpPr>
        <p:sp>
          <p:nvSpPr>
            <p:cNvPr id="5" name="Freeform 5"/>
            <p:cNvSpPr/>
            <p:nvPr/>
          </p:nvSpPr>
          <p:spPr>
            <a:xfrm>
              <a:off x="0" y="548233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2042" y="1177540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</a:t>
              </a:r>
              <a:r>
                <a:rPr lang="en-US" sz="5400" b="1" dirty="0">
                  <a:solidFill>
                    <a:schemeClr val="tx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</a:t>
              </a: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BENEFITS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40060" y="-19267"/>
            <a:ext cx="2591483" cy="1349216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1926A23-6146-B179-72E0-258B2DBA6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961" y="1146860"/>
            <a:ext cx="8197958" cy="29016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B52E0D-B948-3BB2-F5A8-4EFEA66F1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8280" y="4087384"/>
            <a:ext cx="8375374" cy="45340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FD1667-6B80-B41B-95F2-D68A12652D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5" y="1091316"/>
            <a:ext cx="5192742" cy="838067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53F00A-8D1D-5126-E9A1-5CF9B361D602}"/>
              </a:ext>
            </a:extLst>
          </p:cNvPr>
          <p:cNvSpPr txBox="1"/>
          <p:nvPr/>
        </p:nvSpPr>
        <p:spPr>
          <a:xfrm>
            <a:off x="-249469" y="1364579"/>
            <a:ext cx="59789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Montserrat"/>
              </a:rPr>
              <a:t>KEY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D8F22A-F481-6010-D715-C8C2077F0398}"/>
              </a:ext>
            </a:extLst>
          </p:cNvPr>
          <p:cNvSpPr txBox="1"/>
          <p:nvPr/>
        </p:nvSpPr>
        <p:spPr>
          <a:xfrm>
            <a:off x="1654330" y="1976324"/>
            <a:ext cx="326497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Montserrat"/>
                <a:ea typeface="+mn-lt"/>
                <a:cs typeface="+mn-lt"/>
              </a:rPr>
              <a:t>PUBLIC HEALTH</a:t>
            </a:r>
            <a:endParaRPr lang="en-US" sz="2000" b="1">
              <a:solidFill>
                <a:schemeClr val="tx2"/>
              </a:solidFill>
              <a:latin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0A849-F85E-38FE-7818-921893ADEDF4}"/>
              </a:ext>
            </a:extLst>
          </p:cNvPr>
          <p:cNvSpPr txBox="1"/>
          <p:nvPr/>
        </p:nvSpPr>
        <p:spPr>
          <a:xfrm>
            <a:off x="1654330" y="5828730"/>
            <a:ext cx="353929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Montserrat Bold"/>
                <a:ea typeface="+mn-lt"/>
                <a:cs typeface="+mn-lt"/>
              </a:rPr>
              <a:t>RESOURCE EFFICIENCY</a:t>
            </a:r>
            <a:endParaRPr lang="en-US" sz="2000">
              <a:solidFill>
                <a:schemeClr val="tx2"/>
              </a:solidFill>
              <a:latin typeface="Montserrat Bold"/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B46EB-E9E6-DBB1-69FC-F19EFDF5BD2E}"/>
              </a:ext>
            </a:extLst>
          </p:cNvPr>
          <p:cNvSpPr txBox="1"/>
          <p:nvPr/>
        </p:nvSpPr>
        <p:spPr>
          <a:xfrm>
            <a:off x="1653005" y="3716334"/>
            <a:ext cx="32954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Montserrat Bold"/>
                <a:ea typeface="+mn-lt"/>
                <a:cs typeface="+mn-lt"/>
              </a:rPr>
              <a:t>RURAL &amp; LOCAL COMMUNITIES</a:t>
            </a:r>
            <a:endParaRPr lang="en-US" sz="2000" b="1" dirty="0">
              <a:solidFill>
                <a:schemeClr val="tx2"/>
              </a:solidFill>
              <a:latin typeface="Montserrat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E3F4A7-3539-9C55-E0FF-D41B37DF2751}"/>
              </a:ext>
            </a:extLst>
          </p:cNvPr>
          <p:cNvSpPr txBox="1"/>
          <p:nvPr/>
        </p:nvSpPr>
        <p:spPr>
          <a:xfrm>
            <a:off x="1919374" y="7606509"/>
            <a:ext cx="365988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dirty="0">
                <a:solidFill>
                  <a:schemeClr val="tx2"/>
                </a:solidFill>
                <a:latin typeface="Montserrat Bold"/>
                <a:ea typeface="+mn-lt"/>
                <a:cs typeface="+mn-lt"/>
              </a:rPr>
              <a:t>DATA-DRIVEN MANAGEMENT</a:t>
            </a:r>
            <a:endParaRPr lang="en-US" sz="1900">
              <a:solidFill>
                <a:schemeClr val="tx2"/>
              </a:solidFill>
              <a:latin typeface="Montserrat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0B90F-7836-7FE0-AE2E-E9E6B8F12BD6}"/>
              </a:ext>
            </a:extLst>
          </p:cNvPr>
          <p:cNvSpPr txBox="1"/>
          <p:nvPr/>
        </p:nvSpPr>
        <p:spPr>
          <a:xfrm>
            <a:off x="1669694" y="2306404"/>
            <a:ext cx="353387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/>
                <a:ea typeface="+mn-lt"/>
                <a:cs typeface="+mn-lt"/>
              </a:rPr>
              <a:t>Reduces risk of delivering unsafe water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libri"/>
                <a:ea typeface="+mn-lt"/>
                <a:cs typeface="+mn-lt"/>
              </a:rPr>
              <a:t>Additional quality verification layer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374CEC-8238-8A9B-BD09-E78541DB42DC}"/>
              </a:ext>
            </a:extLst>
          </p:cNvPr>
          <p:cNvSpPr txBox="1"/>
          <p:nvPr/>
        </p:nvSpPr>
        <p:spPr>
          <a:xfrm>
            <a:off x="1669693" y="4318083"/>
            <a:ext cx="324431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Supports areas where manual testing is difficult </a:t>
            </a:r>
            <a:endParaRPr lang="en-US" sz="2000" dirty="0">
              <a:latin typeface="Montserrat Regular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Enables localized monitoring and alerts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6B7B3D-2CCE-BF95-D773-F29A4077F24F}"/>
              </a:ext>
            </a:extLst>
          </p:cNvPr>
          <p:cNvSpPr txBox="1"/>
          <p:nvPr/>
        </p:nvSpPr>
        <p:spPr>
          <a:xfrm>
            <a:off x="1669693" y="6168750"/>
            <a:ext cx="351863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Treatment driven by sensor readings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Unsafe water → Auto-reject &amp; divert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82AE9F-1B9A-5954-0C40-57BCE36F8EF4}"/>
              </a:ext>
            </a:extLst>
          </p:cNvPr>
          <p:cNvSpPr txBox="1"/>
          <p:nvPr/>
        </p:nvSpPr>
        <p:spPr>
          <a:xfrm>
            <a:off x="1669692" y="8123446"/>
            <a:ext cx="3535195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Historical data</a:t>
            </a:r>
            <a:r>
              <a:rPr lang="en-US" sz="2000" dirty="0">
                <a:ea typeface="+mn-lt"/>
                <a:cs typeface="+mn-lt"/>
              </a:rPr>
              <a:t> → Water-quality trends 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Real-time alerts</a:t>
            </a:r>
            <a:r>
              <a:rPr lang="en-US" sz="2000" dirty="0">
                <a:ea typeface="+mn-lt"/>
                <a:cs typeface="+mn-lt"/>
              </a:rPr>
              <a:t> → Faster response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1CBD4-DFD2-F331-2CDB-520231FC8156}"/>
              </a:ext>
            </a:extLst>
          </p:cNvPr>
          <p:cNvSpPr txBox="1"/>
          <p:nvPr/>
        </p:nvSpPr>
        <p:spPr>
          <a:xfrm>
            <a:off x="4785156" y="3218715"/>
            <a:ext cx="3264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"/>
                <a:ea typeface="+mn-lt"/>
                <a:cs typeface="+mn-lt"/>
              </a:rPr>
              <a:t>MONITOR</a:t>
            </a:r>
            <a:endParaRPr lang="en-US" b="1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8732B7-D524-856C-1CC4-60EA33C92B02}"/>
              </a:ext>
            </a:extLst>
          </p:cNvPr>
          <p:cNvSpPr txBox="1"/>
          <p:nvPr/>
        </p:nvSpPr>
        <p:spPr>
          <a:xfrm>
            <a:off x="8860199" y="3235280"/>
            <a:ext cx="3264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VERIFY</a:t>
            </a:r>
            <a:endParaRPr lang="en-US" b="1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5034F0-060C-41E4-2363-09B4BDE1AC36}"/>
              </a:ext>
            </a:extLst>
          </p:cNvPr>
          <p:cNvSpPr txBox="1"/>
          <p:nvPr/>
        </p:nvSpPr>
        <p:spPr>
          <a:xfrm>
            <a:off x="6772981" y="3218714"/>
            <a:ext cx="32649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TREAT</a:t>
            </a:r>
            <a:endParaRPr lang="en-US" b="1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F049E7-DE1E-05FD-E41A-CBA8726AA7A3}"/>
              </a:ext>
            </a:extLst>
          </p:cNvPr>
          <p:cNvSpPr txBox="1"/>
          <p:nvPr/>
        </p:nvSpPr>
        <p:spPr>
          <a:xfrm>
            <a:off x="10963981" y="3218715"/>
            <a:ext cx="3264974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b="1" dirty="0">
                <a:solidFill>
                  <a:schemeClr val="tx2"/>
                </a:solidFill>
                <a:ea typeface="+mn-lt"/>
                <a:cs typeface="+mn-lt"/>
              </a:rPr>
              <a:t>DELIVER SAFE WATER</a:t>
            </a:r>
            <a:endParaRPr lang="en-US" sz="1500" b="1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B8966B-AF9E-3AE3-D807-F10D827BB373}"/>
              </a:ext>
            </a:extLst>
          </p:cNvPr>
          <p:cNvSpPr txBox="1"/>
          <p:nvPr/>
        </p:nvSpPr>
        <p:spPr>
          <a:xfrm>
            <a:off x="5744739" y="3465967"/>
            <a:ext cx="134726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>
                <a:ea typeface="+mn-lt"/>
                <a:cs typeface="+mn-lt"/>
              </a:rPr>
              <a:t>Check water quality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64742A-A3F7-FE1F-2D76-28FD4AEC17BF}"/>
              </a:ext>
            </a:extLst>
          </p:cNvPr>
          <p:cNvSpPr txBox="1"/>
          <p:nvPr/>
        </p:nvSpPr>
        <p:spPr>
          <a:xfrm>
            <a:off x="9720389" y="3499098"/>
            <a:ext cx="1645436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>
                <a:ea typeface="+mn-lt"/>
                <a:cs typeface="+mn-lt"/>
              </a:rPr>
              <a:t>Re-check quality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BAD2AB-068C-845D-CFBA-89612BDE532B}"/>
              </a:ext>
            </a:extLst>
          </p:cNvPr>
          <p:cNvSpPr txBox="1"/>
          <p:nvPr/>
        </p:nvSpPr>
        <p:spPr>
          <a:xfrm>
            <a:off x="10863389" y="3499098"/>
            <a:ext cx="353387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>
                <a:ea typeface="+mn-lt"/>
                <a:cs typeface="+mn-lt"/>
              </a:rPr>
              <a:t>Or divert &amp; alert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5A4B8-ABD5-E242-950B-AB6D0E113FA7}"/>
              </a:ext>
            </a:extLst>
          </p:cNvPr>
          <p:cNvSpPr txBox="1"/>
          <p:nvPr/>
        </p:nvSpPr>
        <p:spPr>
          <a:xfrm>
            <a:off x="7500650" y="3449403"/>
            <a:ext cx="184421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>
                <a:ea typeface="+mn-lt"/>
                <a:cs typeface="+mn-lt"/>
              </a:rPr>
              <a:t>Automated purification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BFA9A7-9175-FC95-0AC4-A6025D5D4046}"/>
              </a:ext>
            </a:extLst>
          </p:cNvPr>
          <p:cNvSpPr txBox="1"/>
          <p:nvPr/>
        </p:nvSpPr>
        <p:spPr>
          <a:xfrm>
            <a:off x="4388793" y="1364578"/>
            <a:ext cx="80330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Montserrat"/>
              </a:rPr>
              <a:t>FROM MONITORING TO SAFER TOMMOROW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CD23FC-A894-D13A-D432-C86F4A00958F}"/>
              </a:ext>
            </a:extLst>
          </p:cNvPr>
          <p:cNvSpPr txBox="1"/>
          <p:nvPr/>
        </p:nvSpPr>
        <p:spPr>
          <a:xfrm>
            <a:off x="5150793" y="4280055"/>
            <a:ext cx="510102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 Bold"/>
                <a:ea typeface="+mn-lt"/>
                <a:cs typeface="+mn-lt"/>
              </a:rPr>
              <a:t>GREATER IMPACT OVER TIME</a:t>
            </a:r>
            <a:endParaRPr lang="en-US" sz="1600">
              <a:solidFill>
                <a:schemeClr val="bg1"/>
              </a:solidFill>
              <a:latin typeface="Montserrat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0D8B07-81ED-928F-7B7A-396CFD2AC8EC}"/>
              </a:ext>
            </a:extLst>
          </p:cNvPr>
          <p:cNvSpPr txBox="1"/>
          <p:nvPr/>
        </p:nvSpPr>
        <p:spPr>
          <a:xfrm>
            <a:off x="6259459" y="4924931"/>
            <a:ext cx="59797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ea typeface="+mn-lt"/>
                <a:cs typeface="+mn-lt"/>
              </a:rPr>
              <a:t>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FEA704-0F70-EAD9-DDB0-029416BA568E}"/>
              </a:ext>
            </a:extLst>
          </p:cNvPr>
          <p:cNvSpPr txBox="1"/>
          <p:nvPr/>
        </p:nvSpPr>
        <p:spPr>
          <a:xfrm>
            <a:off x="6491371" y="4924930"/>
            <a:ext cx="203914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ea typeface="+mn-lt"/>
                <a:cs typeface="+mn-lt"/>
              </a:rPr>
              <a:t>Risk of unsafe water delivery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027DD2-F997-65A5-F456-4F6F218884A1}"/>
              </a:ext>
            </a:extLst>
          </p:cNvPr>
          <p:cNvSpPr txBox="1"/>
          <p:nvPr/>
        </p:nvSpPr>
        <p:spPr>
          <a:xfrm>
            <a:off x="8346675" y="4924930"/>
            <a:ext cx="36606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ea typeface="+mn-lt"/>
                <a:cs typeface="+mn-lt"/>
              </a:rPr>
              <a:t>🟢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F9709-A16D-20F9-D67D-6F306301142F}"/>
              </a:ext>
            </a:extLst>
          </p:cNvPr>
          <p:cNvSpPr txBox="1"/>
          <p:nvPr/>
        </p:nvSpPr>
        <p:spPr>
          <a:xfrm>
            <a:off x="8545458" y="4908364"/>
            <a:ext cx="203914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ea typeface="+mn-lt"/>
                <a:cs typeface="+mn-lt"/>
              </a:rPr>
              <a:t>Community trust &amp; safety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839EA-7C68-5AD2-28CB-6FEE215B5B87}"/>
              </a:ext>
            </a:extLst>
          </p:cNvPr>
          <p:cNvSpPr txBox="1"/>
          <p:nvPr/>
        </p:nvSpPr>
        <p:spPr>
          <a:xfrm>
            <a:off x="5547153" y="5421885"/>
            <a:ext cx="531714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ea typeface="+mn-lt"/>
                <a:cs typeface="+mn-lt"/>
              </a:rPr>
              <a:t>High</a:t>
            </a:r>
            <a:r>
              <a:rPr lang="en-US" sz="1200" dirty="0">
                <a:ea typeface="+mn-lt"/>
                <a:cs typeface="+mn-lt"/>
              </a:rPr>
              <a:t> </a:t>
            </a:r>
            <a:endParaRPr lang="en-US" sz="1200" dirty="0">
              <a:ea typeface="Calibri"/>
              <a:cs typeface="Calibri"/>
            </a:endParaRPr>
          </a:p>
          <a:p>
            <a:endParaRPr lang="en-US" sz="1000" dirty="0">
              <a:ea typeface="Calibri"/>
              <a:cs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3CE17E-2E84-EFFA-B94A-E6AC1AEC8BEB}"/>
              </a:ext>
            </a:extLst>
          </p:cNvPr>
          <p:cNvSpPr txBox="1"/>
          <p:nvPr/>
        </p:nvSpPr>
        <p:spPr>
          <a:xfrm>
            <a:off x="5547152" y="7161232"/>
            <a:ext cx="531714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Low</a:t>
            </a:r>
          </a:p>
          <a:p>
            <a:endParaRPr lang="en-US" sz="1000" dirty="0"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755B60-403A-7E83-A6B2-EDDE11A2ABD5}"/>
              </a:ext>
            </a:extLst>
          </p:cNvPr>
          <p:cNvSpPr txBox="1"/>
          <p:nvPr/>
        </p:nvSpPr>
        <p:spPr>
          <a:xfrm>
            <a:off x="5480892" y="6233579"/>
            <a:ext cx="8961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Medium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51D38C-451A-BA12-72E4-91EBD41E83B0}"/>
              </a:ext>
            </a:extLst>
          </p:cNvPr>
          <p:cNvSpPr txBox="1"/>
          <p:nvPr/>
        </p:nvSpPr>
        <p:spPr>
          <a:xfrm>
            <a:off x="6226325" y="7823840"/>
            <a:ext cx="5317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ea typeface="Calibri"/>
                <a:cs typeface="Calibri"/>
              </a:rPr>
              <a:t>Before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9B34A4-466D-3D9C-DD62-4F5D402EB49D}"/>
              </a:ext>
            </a:extLst>
          </p:cNvPr>
          <p:cNvSpPr txBox="1"/>
          <p:nvPr/>
        </p:nvSpPr>
        <p:spPr>
          <a:xfrm>
            <a:off x="9771280" y="7807274"/>
            <a:ext cx="53171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ea typeface="Calibri"/>
                <a:cs typeface="Calibri"/>
              </a:rPr>
              <a:t>After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BDEDF3-7604-5602-082C-E191C3EBAFA8}"/>
              </a:ext>
            </a:extLst>
          </p:cNvPr>
          <p:cNvSpPr txBox="1"/>
          <p:nvPr/>
        </p:nvSpPr>
        <p:spPr>
          <a:xfrm>
            <a:off x="11708216" y="4575837"/>
            <a:ext cx="13472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Safer Communities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944162-AD11-C914-2A3A-434792AA81F5}"/>
              </a:ext>
            </a:extLst>
          </p:cNvPr>
          <p:cNvSpPr txBox="1"/>
          <p:nvPr/>
        </p:nvSpPr>
        <p:spPr>
          <a:xfrm>
            <a:off x="11741346" y="5470359"/>
            <a:ext cx="133069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Higher </a:t>
            </a:r>
            <a:endParaRPr lang="en-US"/>
          </a:p>
          <a:p>
            <a:r>
              <a:rPr lang="en-US" sz="1600" dirty="0">
                <a:ea typeface="+mn-lt"/>
                <a:cs typeface="+mn-lt"/>
              </a:rPr>
              <a:t>Public Trust</a:t>
            </a:r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904824-72C8-F8E9-8058-85C43BCD3183}"/>
              </a:ext>
            </a:extLst>
          </p:cNvPr>
          <p:cNvSpPr txBox="1"/>
          <p:nvPr/>
        </p:nvSpPr>
        <p:spPr>
          <a:xfrm>
            <a:off x="11708215" y="6464272"/>
            <a:ext cx="17945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Calibri"/>
                <a:cs typeface="Calibri"/>
              </a:rPr>
              <a:t>Lower</a:t>
            </a:r>
          </a:p>
          <a:p>
            <a:r>
              <a:rPr lang="en-US" sz="1600" dirty="0">
                <a:ea typeface="Calibri"/>
                <a:cs typeface="Calibri"/>
              </a:rPr>
              <a:t>Environmental Risk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BA3E4C-80B4-9699-16CB-4ED4694FD93D}"/>
              </a:ext>
            </a:extLst>
          </p:cNvPr>
          <p:cNvSpPr txBox="1"/>
          <p:nvPr/>
        </p:nvSpPr>
        <p:spPr>
          <a:xfrm>
            <a:off x="11708215" y="7458184"/>
            <a:ext cx="17779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Calibri"/>
                <a:cs typeface="Calibri"/>
              </a:rPr>
              <a:t>Better Resource</a:t>
            </a:r>
          </a:p>
          <a:p>
            <a:r>
              <a:rPr lang="en-US" sz="1600" dirty="0">
                <a:ea typeface="Calibri"/>
                <a:cs typeface="Calibri"/>
              </a:rPr>
              <a:t>Utilization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3F47E95-10E5-AEF2-EAE5-9AE6682E59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01287" y="1333499"/>
            <a:ext cx="4631157" cy="813352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78FC22C-4ED0-5E46-7D7E-27920E3D9E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3697" y="8496210"/>
            <a:ext cx="8056069" cy="98083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4A3B2B6-65F9-D334-8541-CDD1D419CC60}"/>
              </a:ext>
            </a:extLst>
          </p:cNvPr>
          <p:cNvSpPr txBox="1"/>
          <p:nvPr/>
        </p:nvSpPr>
        <p:spPr>
          <a:xfrm>
            <a:off x="14226128" y="7193142"/>
            <a:ext cx="24571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ea typeface="+mn-lt"/>
                <a:cs typeface="+mn-lt"/>
              </a:rPr>
              <a:t>Healthier Lives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0A73BF-99FC-8CB8-71E9-35B08BBCC0E9}"/>
              </a:ext>
            </a:extLst>
          </p:cNvPr>
          <p:cNvSpPr txBox="1"/>
          <p:nvPr/>
        </p:nvSpPr>
        <p:spPr>
          <a:xfrm>
            <a:off x="14590562" y="7888879"/>
            <a:ext cx="24571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ea typeface="+mn-lt"/>
                <a:cs typeface="+mn-lt"/>
              </a:rPr>
              <a:t>Resilient Communities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BBD9E5-EC31-0390-2E40-D7E60539C834}"/>
              </a:ext>
            </a:extLst>
          </p:cNvPr>
          <p:cNvSpPr txBox="1"/>
          <p:nvPr/>
        </p:nvSpPr>
        <p:spPr>
          <a:xfrm>
            <a:off x="14424909" y="8551487"/>
            <a:ext cx="24571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ea typeface="+mn-lt"/>
                <a:cs typeface="+mn-lt"/>
              </a:rPr>
              <a:t>Sustainable Future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BA7447-6B2F-01B7-FCA5-D2F64E7501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" y="-676725"/>
            <a:ext cx="4496880" cy="2410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</a:t>
              </a:r>
              <a:r>
                <a:rPr lang="en-US" sz="5400" b="1" dirty="0">
                  <a:solidFill>
                    <a:schemeClr val="tx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AND</a:t>
              </a: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REFERENCES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1CBE3604-0176-1A13-84AC-B27AC07CEC7F}"/>
              </a:ext>
            </a:extLst>
          </p:cNvPr>
          <p:cNvGrpSpPr/>
          <p:nvPr/>
        </p:nvGrpSpPr>
        <p:grpSpPr>
          <a:xfrm>
            <a:off x="629561" y="1609502"/>
            <a:ext cx="8023859" cy="7358620"/>
            <a:chOff x="-4173" y="-96441"/>
            <a:chExt cx="12489462" cy="7482504"/>
          </a:xfrm>
        </p:grpSpPr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D26D35AD-AEFE-D002-86FF-0E7687E7EECD}"/>
                </a:ext>
              </a:extLst>
            </p:cNvPr>
            <p:cNvGrpSpPr/>
            <p:nvPr/>
          </p:nvGrpSpPr>
          <p:grpSpPr>
            <a:xfrm>
              <a:off x="-4173" y="-96441"/>
              <a:ext cx="12489462" cy="7482504"/>
              <a:chOff x="-824" y="-19050"/>
              <a:chExt cx="2467054" cy="1478026"/>
            </a:xfrm>
          </p:grpSpPr>
          <p:sp>
            <p:nvSpPr>
              <p:cNvPr id="22" name="Freeform 29">
                <a:extLst>
                  <a:ext uri="{FF2B5EF4-FFF2-40B4-BE49-F238E27FC236}">
                    <a16:creationId xmlns:a16="http://schemas.microsoft.com/office/drawing/2014/main" id="{70B957AA-5404-00C0-7739-210A0E2ED7DE}"/>
                  </a:ext>
                </a:extLst>
              </p:cNvPr>
              <p:cNvSpPr/>
              <p:nvPr/>
            </p:nvSpPr>
            <p:spPr>
              <a:xfrm>
                <a:off x="-824" y="29331"/>
                <a:ext cx="2467054" cy="1429645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3" name="TextBox 30">
                <a:extLst>
                  <a:ext uri="{FF2B5EF4-FFF2-40B4-BE49-F238E27FC236}">
                    <a16:creationId xmlns:a16="http://schemas.microsoft.com/office/drawing/2014/main" id="{79A7E600-D826-7C65-6EF4-D84BE32EF15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C4BA691F-F83C-5B13-E20B-9E87870E917A}"/>
                </a:ext>
              </a:extLst>
            </p:cNvPr>
            <p:cNvSpPr txBox="1"/>
            <p:nvPr/>
          </p:nvSpPr>
          <p:spPr>
            <a:xfrm>
              <a:off x="304630" y="215255"/>
              <a:ext cx="11691819" cy="5888936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D050E80-3195-DC60-DE44-5E973A3162A2}"/>
              </a:ext>
            </a:extLst>
          </p:cNvPr>
          <p:cNvSpPr txBox="1"/>
          <p:nvPr/>
        </p:nvSpPr>
        <p:spPr>
          <a:xfrm>
            <a:off x="913385" y="2175862"/>
            <a:ext cx="6632591" cy="72019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Calibri"/>
                <a:ea typeface="Calibri"/>
                <a:cs typeface="Calibri"/>
              </a:rPr>
              <a:t>Government &amp; Standards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  <a:hlinkClick r:id="rId5"/>
              </a:rPr>
              <a:t>Jharkhand Government – Drinking Water &amp; Sanitation</a:t>
            </a:r>
            <a:r>
              <a:rPr lang="en-US" sz="3200" dirty="0"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  <a:hlinkClick r:id="rId6"/>
              </a:rPr>
              <a:t>Jal Jeevan Mission – Water Quality Management</a:t>
            </a:r>
            <a:r>
              <a:rPr lang="en-US" sz="3200" dirty="0"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  <a:hlinkClick r:id="rId7"/>
              </a:rPr>
              <a:t>Central Ground Water Board – Groundwater Quality</a:t>
            </a:r>
            <a:r>
              <a:rPr lang="en-US" sz="3200" dirty="0"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  <a:hlinkClick r:id="rId8"/>
              </a:rPr>
              <a:t>Jharkhand Economic Survey 2025–26</a:t>
            </a:r>
            <a:r>
              <a:rPr lang="en-US" sz="3200" dirty="0">
                <a:ea typeface="+mn-lt"/>
                <a:cs typeface="+mn-lt"/>
              </a:rPr>
              <a:t> </a:t>
            </a:r>
            <a:endParaRPr lang="en-US" sz="32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  <a:hlinkClick r:id="rId9"/>
              </a:rPr>
              <a:t>Bureau of Indian Standards – IS 10500</a:t>
            </a:r>
            <a:endParaRPr lang="en-US" sz="3200">
              <a:ea typeface="Calibri"/>
              <a:cs typeface="Calibri"/>
            </a:endParaRPr>
          </a:p>
          <a:p>
            <a:endParaRPr lang="en-US" sz="2400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grpSp>
        <p:nvGrpSpPr>
          <p:cNvPr id="26" name="Group 27">
            <a:extLst>
              <a:ext uri="{FF2B5EF4-FFF2-40B4-BE49-F238E27FC236}">
                <a16:creationId xmlns:a16="http://schemas.microsoft.com/office/drawing/2014/main" id="{17569D1C-05F5-870E-EAA9-25D745804782}"/>
              </a:ext>
            </a:extLst>
          </p:cNvPr>
          <p:cNvGrpSpPr/>
          <p:nvPr/>
        </p:nvGrpSpPr>
        <p:grpSpPr>
          <a:xfrm>
            <a:off x="8813441" y="1609502"/>
            <a:ext cx="8862059" cy="7358620"/>
            <a:chOff x="-4173" y="-96441"/>
            <a:chExt cx="12489462" cy="7482504"/>
          </a:xfrm>
        </p:grpSpPr>
        <p:grpSp>
          <p:nvGrpSpPr>
            <p:cNvPr id="27" name="Group 28">
              <a:extLst>
                <a:ext uri="{FF2B5EF4-FFF2-40B4-BE49-F238E27FC236}">
                  <a16:creationId xmlns:a16="http://schemas.microsoft.com/office/drawing/2014/main" id="{522E5786-78EB-5E62-67C1-FCAC0D0747DD}"/>
                </a:ext>
              </a:extLst>
            </p:cNvPr>
            <p:cNvGrpSpPr/>
            <p:nvPr/>
          </p:nvGrpSpPr>
          <p:grpSpPr>
            <a:xfrm>
              <a:off x="-4173" y="-96441"/>
              <a:ext cx="12489462" cy="7482504"/>
              <a:chOff x="-824" y="-19050"/>
              <a:chExt cx="2467054" cy="1478026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2422EACA-4DE1-64DF-542F-378239C9E739}"/>
                  </a:ext>
                </a:extLst>
              </p:cNvPr>
              <p:cNvSpPr/>
              <p:nvPr/>
            </p:nvSpPr>
            <p:spPr>
              <a:xfrm>
                <a:off x="-824" y="29331"/>
                <a:ext cx="2467054" cy="1429645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2115C653-DB52-DB7F-64B9-1ABAB165465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8" name="TextBox 33">
              <a:extLst>
                <a:ext uri="{FF2B5EF4-FFF2-40B4-BE49-F238E27FC236}">
                  <a16:creationId xmlns:a16="http://schemas.microsoft.com/office/drawing/2014/main" id="{45158961-CB6B-26CF-7079-61864E46DAC5}"/>
                </a:ext>
              </a:extLst>
            </p:cNvPr>
            <p:cNvSpPr txBox="1"/>
            <p:nvPr/>
          </p:nvSpPr>
          <p:spPr>
            <a:xfrm>
              <a:off x="304630" y="215255"/>
              <a:ext cx="11691819" cy="5888936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9260284-B94A-F9DD-1693-ACBE0BDFAFC8}"/>
              </a:ext>
            </a:extLst>
          </p:cNvPr>
          <p:cNvSpPr txBox="1"/>
          <p:nvPr/>
        </p:nvSpPr>
        <p:spPr>
          <a:xfrm>
            <a:off x="9432545" y="2160622"/>
            <a:ext cx="6632591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Technical &amp; Scientific Sources</a:t>
            </a:r>
            <a:endParaRPr lang="en-US" sz="3600" b="1">
              <a:ea typeface="Calibri"/>
              <a:cs typeface="Calibri"/>
            </a:endParaRPr>
          </a:p>
          <a:p>
            <a:endParaRPr lang="en-US" sz="14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0"/>
              </a:rPr>
              <a:t>WHO – Guidelines for Drinking-water Quality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1"/>
              </a:rPr>
              <a:t>WHO – Arsenic in Drinking Water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2"/>
              </a:rPr>
              <a:t>WHO – Fluoride in Drinking Water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3"/>
              </a:rPr>
              <a:t>WHO – Nitrate/Nitrite in Drinking Water</a:t>
            </a:r>
            <a:r>
              <a:rPr lang="en-US" sz="2800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4"/>
              </a:rPr>
              <a:t>WHO – Uranium in Drinking Water</a:t>
            </a:r>
            <a:r>
              <a:rPr lang="en-US" sz="2800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5"/>
              </a:rPr>
              <a:t>WHO – Chemical Hazards in Drinking Water</a:t>
            </a:r>
            <a:r>
              <a:rPr lang="en-US" sz="2800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6"/>
              </a:rPr>
              <a:t>CDC – Home Water Treatment Systems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7"/>
              </a:rPr>
              <a:t>US EPA – Drinking Water Treatment Technologies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  <a:hlinkClick r:id="rId18"/>
              </a:rPr>
              <a:t>CDC/NIOSH – UV-LED Water Disinfection Research</a:t>
            </a:r>
            <a:endParaRPr lang="en-US" sz="28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4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400" b="1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6BD1F-78B8-5AC9-A619-33E8DBD91C5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96712" y="-568895"/>
            <a:ext cx="4518446" cy="2690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Code Show </dc:title>
  <cp:revision>698</cp:revision>
  <dcterms:created xsi:type="dcterms:W3CDTF">2006-08-16T00:00:00Z</dcterms:created>
  <dcterms:modified xsi:type="dcterms:W3CDTF">2026-09-09T03:37:37Z</dcterms:modified>
  <dc:identifier>DAHTstSq_E8</dc:identifier>
</cp:coreProperties>
</file>