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Arial Bold" panose="020B0704020202020204" pitchFamily="34" charset="0"/>
      <p:regular r:id="rId15"/>
      <p:bold r:id="rId16"/>
    </p:embeddedFont>
    <p:embeddedFont>
      <p:font typeface="Arimo Bold" panose="020B0604020202020204" charset="0"/>
      <p:regular r:id="rId17"/>
    </p:embeddedFont>
    <p:embeddedFont>
      <p:font typeface="Calibri (MS)" panose="020B0604020202020204" charset="0"/>
      <p:regular r:id="rId18"/>
    </p:embeddedFont>
    <p:embeddedFont>
      <p:font typeface="Garamond Bold" panose="02020804030307010803" pitchFamily="18" charset="0"/>
      <p:regular r:id="rId19"/>
      <p:bold r:id="rId20"/>
    </p:embeddedFont>
    <p:embeddedFont>
      <p:font typeface="Times New Roman Bold" panose="02020803070505020304" pitchFamily="18" charset="0"/>
      <p:regular r:id="rId21"/>
      <p:bold r:id="rId22"/>
    </p:embeddedFont>
    <p:embeddedFont>
      <p:font typeface="Trade Gothic Condensed" panose="020B0604020202020204" charset="0"/>
      <p:regular r:id="rId23"/>
    </p:embeddedFont>
    <p:embeddedFont>
      <p:font typeface="Trade Gothic Condensed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86" dt="2026-09-07T04:43:04.876"/>
    <p1510:client id="{4DE604EB-522A-1EEE-B299-8634D72EBFEC}" v="18" dt="2026-09-06T11:54:04.562"/>
    <p1510:client id="{686FD80A-6483-49EF-3D23-AF72B4382026}" v="443" dt="2026-09-06T11:51:21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4209" y="159202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87333" y="3153600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144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Calibri"/>
                <a:cs typeface="Times New Roman Bold"/>
              </a:rPr>
              <a:t>TECH TIDE &lt;/&gt;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11668" y="-574790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87153" y="1756906"/>
            <a:ext cx="11404074" cy="7936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651510" lvl="1" indent="-325755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SIH26040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200" dirty="0">
                <a:solidFill>
                  <a:srgbClr val="000000"/>
                </a:solidFill>
                <a:latin typeface="Arial Bold"/>
                <a:ea typeface="+mn-lt"/>
                <a:cs typeface="Arial Bold"/>
                <a:sym typeface="Arial Bold"/>
              </a:rPr>
              <a:t>Smart Water Purification and Quality Monitoring System for Rural and Mining-Affected Areas.</a:t>
            </a:r>
            <a:endParaRPr lang="en-US" sz="3200" dirty="0">
              <a:solidFill>
                <a:srgbClr val="000000"/>
              </a:solidFill>
              <a:latin typeface="Arial Bold"/>
              <a:ea typeface="+mn-lt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 </a:t>
            </a:r>
            <a:r>
              <a:rPr lang="en-US" sz="3600" dirty="0">
                <a:solidFill>
                  <a:srgbClr val="212529"/>
                </a:solidFill>
                <a:latin typeface="Arial Bold"/>
                <a:ea typeface="+mn-lt"/>
                <a:cs typeface="Arial Bold"/>
                <a:sym typeface="Arial Bold"/>
              </a:rPr>
              <a:t>Clean &amp; Green Technology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Tech Tide &lt;/&gt;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15117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739312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710" b="-2097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845952" y="0"/>
            <a:ext cx="2442048" cy="1153088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0" y="0"/>
            <a:ext cx="3087381" cy="1645406"/>
          </a:xfrm>
          <a:custGeom>
            <a:avLst/>
            <a:gdLst/>
            <a:ahLst/>
            <a:cxnLst/>
            <a:rect l="l" t="t" r="r" b="b"/>
            <a:pathLst>
              <a:path w="3087381" h="1645406">
                <a:moveTo>
                  <a:pt x="0" y="0"/>
                </a:moveTo>
                <a:lnTo>
                  <a:pt x="3087381" y="0"/>
                </a:lnTo>
                <a:lnTo>
                  <a:pt x="3087381" y="1645406"/>
                </a:lnTo>
                <a:lnTo>
                  <a:pt x="0" y="1645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1526835" y="1674712"/>
            <a:ext cx="6597225" cy="3461852"/>
            <a:chOff x="0" y="0"/>
            <a:chExt cx="11533782" cy="367385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1533782" cy="3673857"/>
              <a:chOff x="0" y="0"/>
              <a:chExt cx="2278278" cy="7257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278278" cy="725700"/>
              </a:xfrm>
              <a:custGeom>
                <a:avLst/>
                <a:gdLst/>
                <a:ahLst/>
                <a:cxnLst/>
                <a:rect l="l" t="t" r="r" b="b"/>
                <a:pathLst>
                  <a:path w="2278278" h="725700">
                    <a:moveTo>
                      <a:pt x="13425" y="0"/>
                    </a:moveTo>
                    <a:lnTo>
                      <a:pt x="2264853" y="0"/>
                    </a:lnTo>
                    <a:cubicBezTo>
                      <a:pt x="2272267" y="0"/>
                      <a:pt x="2278278" y="6010"/>
                      <a:pt x="2278278" y="13425"/>
                    </a:cubicBezTo>
                    <a:lnTo>
                      <a:pt x="2278278" y="712275"/>
                    </a:lnTo>
                    <a:cubicBezTo>
                      <a:pt x="2278278" y="715836"/>
                      <a:pt x="2276863" y="719250"/>
                      <a:pt x="2274346" y="721768"/>
                    </a:cubicBezTo>
                    <a:cubicBezTo>
                      <a:pt x="2271828" y="724286"/>
                      <a:pt x="2268413" y="725700"/>
                      <a:pt x="2264853" y="725700"/>
                    </a:cubicBezTo>
                    <a:lnTo>
                      <a:pt x="13425" y="725700"/>
                    </a:lnTo>
                    <a:cubicBezTo>
                      <a:pt x="9864" y="725700"/>
                      <a:pt x="6450" y="724286"/>
                      <a:pt x="3932" y="721768"/>
                    </a:cubicBezTo>
                    <a:cubicBezTo>
                      <a:pt x="1414" y="719250"/>
                      <a:pt x="0" y="715836"/>
                      <a:pt x="0" y="712275"/>
                    </a:cubicBezTo>
                    <a:lnTo>
                      <a:pt x="0" y="13425"/>
                    </a:lnTo>
                    <a:cubicBezTo>
                      <a:pt x="0" y="9864"/>
                      <a:pt x="1414" y="6450"/>
                      <a:pt x="3932" y="3932"/>
                    </a:cubicBezTo>
                    <a:cubicBezTo>
                      <a:pt x="6450" y="1414"/>
                      <a:pt x="9864" y="0"/>
                      <a:pt x="13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2278278" cy="74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86535" y="180289"/>
              <a:ext cx="10997338" cy="3294175"/>
              <a:chOff x="0" y="0"/>
              <a:chExt cx="2064223" cy="6183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64223" cy="618323"/>
              </a:xfrm>
              <a:custGeom>
                <a:avLst/>
                <a:gdLst/>
                <a:ahLst/>
                <a:cxnLst/>
                <a:rect l="l" t="t" r="r" b="b"/>
                <a:pathLst>
                  <a:path w="2064223" h="618323">
                    <a:moveTo>
                      <a:pt x="939" y="0"/>
                    </a:moveTo>
                    <a:lnTo>
                      <a:pt x="2063284" y="0"/>
                    </a:lnTo>
                    <a:cubicBezTo>
                      <a:pt x="2063533" y="0"/>
                      <a:pt x="2063772" y="99"/>
                      <a:pt x="2063948" y="275"/>
                    </a:cubicBezTo>
                    <a:cubicBezTo>
                      <a:pt x="2064124" y="451"/>
                      <a:pt x="2064223" y="690"/>
                      <a:pt x="2064223" y="939"/>
                    </a:cubicBezTo>
                    <a:lnTo>
                      <a:pt x="2064223" y="617385"/>
                    </a:lnTo>
                    <a:cubicBezTo>
                      <a:pt x="2064223" y="617634"/>
                      <a:pt x="2064124" y="617872"/>
                      <a:pt x="2063948" y="618048"/>
                    </a:cubicBezTo>
                    <a:cubicBezTo>
                      <a:pt x="2063772" y="618224"/>
                      <a:pt x="2063533" y="618323"/>
                      <a:pt x="2063284" y="618323"/>
                    </a:cubicBezTo>
                    <a:lnTo>
                      <a:pt x="939" y="618323"/>
                    </a:lnTo>
                    <a:cubicBezTo>
                      <a:pt x="690" y="618323"/>
                      <a:pt x="451" y="618224"/>
                      <a:pt x="275" y="618048"/>
                    </a:cubicBezTo>
                    <a:cubicBezTo>
                      <a:pt x="99" y="617872"/>
                      <a:pt x="0" y="617634"/>
                      <a:pt x="0" y="617385"/>
                    </a:cubicBezTo>
                    <a:lnTo>
                      <a:pt x="0" y="939"/>
                    </a:lnTo>
                    <a:cubicBezTo>
                      <a:pt x="0" y="690"/>
                      <a:pt x="99" y="451"/>
                      <a:pt x="275" y="275"/>
                    </a:cubicBezTo>
                    <a:cubicBezTo>
                      <a:pt x="451" y="99"/>
                      <a:pt x="690" y="0"/>
                      <a:pt x="9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2064223" cy="637373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-306358" y="5821504"/>
            <a:ext cx="8151812" cy="3901973"/>
            <a:chOff x="0" y="-96441"/>
            <a:chExt cx="12262140" cy="663864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-96441"/>
              <a:ext cx="12262140" cy="6638641"/>
              <a:chOff x="0" y="-19050"/>
              <a:chExt cx="2422151" cy="131133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21763" y="5774"/>
                <a:ext cx="2300388" cy="1286513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04630" y="215254"/>
              <a:ext cx="11691820" cy="5888937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8196008" y="3065238"/>
            <a:ext cx="2792852" cy="5270703"/>
          </a:xfrm>
          <a:custGeom>
            <a:avLst/>
            <a:gdLst/>
            <a:ahLst/>
            <a:cxnLst/>
            <a:rect l="l" t="t" r="r" b="b"/>
            <a:pathLst>
              <a:path w="2792852" h="5270703">
                <a:moveTo>
                  <a:pt x="0" y="0"/>
                </a:moveTo>
                <a:lnTo>
                  <a:pt x="2792852" y="0"/>
                </a:lnTo>
                <a:lnTo>
                  <a:pt x="2792852" y="5270703"/>
                </a:lnTo>
                <a:lnTo>
                  <a:pt x="0" y="52707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318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3806130" y="139753"/>
            <a:ext cx="10668459" cy="1361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dirty="0">
                <a:solidFill>
                  <a:srgbClr val="000000"/>
                </a:solidFill>
                <a:latin typeface="Arial Bold"/>
                <a:ea typeface="+mn-lt"/>
                <a:cs typeface="Arial Bold"/>
                <a:sym typeface="Canva Sans Bold"/>
              </a:rPr>
              <a:t>IoT-Based Real-Time Water Quality Detection, Treatment &amp; Alert System</a:t>
            </a:r>
            <a:endParaRPr lang="en-US" sz="3600">
              <a:latin typeface="Arial Bold"/>
              <a:ea typeface="Calibri"/>
              <a:cs typeface="Arial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902600" y="1677590"/>
            <a:ext cx="312757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"/>
                <a:ea typeface="Arimo Bold"/>
                <a:cs typeface="Times New Roman"/>
                <a:sym typeface="Arimo Bold"/>
              </a:rPr>
              <a:t>Idea / Solution</a:t>
            </a:r>
            <a:endParaRPr lang="en-US" sz="3200" b="1" dirty="0">
              <a:solidFill>
                <a:srgbClr val="1F497D"/>
              </a:solidFill>
              <a:latin typeface="Times New Roman"/>
              <a:ea typeface="Arimo Bold"/>
              <a:cs typeface="Times New Roman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719706" y="2075851"/>
            <a:ext cx="6393552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Real-Time Monitoring: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pH,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TDS, turbidity &amp; temperature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Jharkhand-Specific Module: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Local contaminants → targeted treatment </a:t>
            </a:r>
            <a:endParaRPr lang="en-US" dirty="0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Smart Control: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ESP32 + pump + valves </a:t>
            </a:r>
            <a:endParaRPr lang="en-US" dirty="0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Multi-Stage Treatment: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Filtration +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UV </a:t>
            </a:r>
            <a:endParaRPr lang="en-US" dirty="0">
              <a:sym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Quality Re-check: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Post-treatment verification </a:t>
            </a:r>
            <a:endParaRPr lang="en-US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Reject &amp; Alert: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Unsafe water →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divert + alert</a:t>
            </a:r>
            <a:endParaRPr lang="en-US" dirty="0">
              <a:sym typeface="Times New Roman"/>
            </a:endParaRPr>
          </a:p>
          <a:p>
            <a:pPr algn="l">
              <a:lnSpc>
                <a:spcPts val="3048"/>
              </a:lnSpc>
            </a:pP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83215" y="6338663"/>
            <a:ext cx="7168110" cy="3139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Our system integrates real-time water quality sensing, intelligent treatment control and user alerts into a single closed-loop platform.</a:t>
            </a:r>
            <a:endParaRPr lang="en-US" sz="2550">
              <a:solidFill>
                <a:srgbClr val="000000"/>
              </a:solidFill>
              <a:latin typeface="Calibri"/>
              <a:ea typeface="Calibri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Sensors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continuously monitor water quality → </a:t>
            </a: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ESP32/controller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analyses the readings → </a:t>
            </a: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filtration/disinfection stages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activated as required → water is </a:t>
            </a: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re-tested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before being classified as acceptable.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1529163" y="-452412"/>
            <a:ext cx="11100456" cy="10191725"/>
            <a:chOff x="-5005354" y="231490"/>
            <a:chExt cx="12544638" cy="15548917"/>
          </a:xfrm>
        </p:grpSpPr>
        <p:sp>
          <p:nvSpPr>
            <p:cNvPr id="43" name="Freeform 43"/>
            <p:cNvSpPr/>
            <p:nvPr/>
          </p:nvSpPr>
          <p:spPr>
            <a:xfrm>
              <a:off x="-5005354" y="9020307"/>
              <a:ext cx="7487483" cy="6760100"/>
            </a:xfrm>
            <a:custGeom>
              <a:avLst/>
              <a:gdLst/>
              <a:ahLst/>
              <a:cxnLst/>
              <a:rect l="l" t="t" r="r" b="b"/>
              <a:pathLst>
                <a:path w="1522224" h="1340317">
                  <a:moveTo>
                    <a:pt x="20093" y="0"/>
                  </a:moveTo>
                  <a:lnTo>
                    <a:pt x="1502131" y="0"/>
                  </a:lnTo>
                  <a:cubicBezTo>
                    <a:pt x="1513228" y="0"/>
                    <a:pt x="1522224" y="8996"/>
                    <a:pt x="1522224" y="20093"/>
                  </a:cubicBezTo>
                  <a:lnTo>
                    <a:pt x="1522224" y="1320225"/>
                  </a:lnTo>
                  <a:cubicBezTo>
                    <a:pt x="1522224" y="1331322"/>
                    <a:pt x="1513228" y="1340317"/>
                    <a:pt x="1502131" y="1340317"/>
                  </a:cubicBezTo>
                  <a:lnTo>
                    <a:pt x="20093" y="1340317"/>
                  </a:lnTo>
                  <a:cubicBezTo>
                    <a:pt x="8996" y="1340317"/>
                    <a:pt x="0" y="1331322"/>
                    <a:pt x="0" y="1320225"/>
                  </a:cubicBezTo>
                  <a:lnTo>
                    <a:pt x="0" y="20093"/>
                  </a:lnTo>
                  <a:cubicBezTo>
                    <a:pt x="0" y="8996"/>
                    <a:pt x="8996" y="0"/>
                    <a:pt x="20093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91448" y="231490"/>
              <a:ext cx="7347836" cy="6185602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0" name="TextBox 37">
            <a:extLst>
              <a:ext uri="{FF2B5EF4-FFF2-40B4-BE49-F238E27FC236}">
                <a16:creationId xmlns:a16="http://schemas.microsoft.com/office/drawing/2014/main" id="{668B74CA-2FA3-7425-CECA-F5E2260CBF3B}"/>
              </a:ext>
            </a:extLst>
          </p:cNvPr>
          <p:cNvSpPr txBox="1"/>
          <p:nvPr/>
        </p:nvSpPr>
        <p:spPr>
          <a:xfrm>
            <a:off x="-583300" y="5962718"/>
            <a:ext cx="575001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</a:rPr>
              <a:t>Proposed Solution</a:t>
            </a:r>
          </a:p>
        </p:txBody>
      </p:sp>
      <p:grpSp>
        <p:nvGrpSpPr>
          <p:cNvPr id="20" name="Group 27">
            <a:extLst>
              <a:ext uri="{FF2B5EF4-FFF2-40B4-BE49-F238E27FC236}">
                <a16:creationId xmlns:a16="http://schemas.microsoft.com/office/drawing/2014/main" id="{6093464A-3D62-A2C4-0A47-70C2BBC023EA}"/>
              </a:ext>
            </a:extLst>
          </p:cNvPr>
          <p:cNvGrpSpPr/>
          <p:nvPr/>
        </p:nvGrpSpPr>
        <p:grpSpPr>
          <a:xfrm>
            <a:off x="111401" y="1304702"/>
            <a:ext cx="7734299" cy="4417300"/>
            <a:chOff x="-4173" y="-96441"/>
            <a:chExt cx="12489462" cy="7482504"/>
          </a:xfrm>
        </p:grpSpPr>
        <p:grpSp>
          <p:nvGrpSpPr>
            <p:cNvPr id="21" name="Group 28">
              <a:extLst>
                <a:ext uri="{FF2B5EF4-FFF2-40B4-BE49-F238E27FC236}">
                  <a16:creationId xmlns:a16="http://schemas.microsoft.com/office/drawing/2014/main" id="{28C82A6D-E102-E39B-567D-2C6B664423E6}"/>
                </a:ext>
              </a:extLst>
            </p:cNvPr>
            <p:cNvGrpSpPr/>
            <p:nvPr/>
          </p:nvGrpSpPr>
          <p:grpSpPr>
            <a:xfrm>
              <a:off x="-4173" y="-96441"/>
              <a:ext cx="12489462" cy="7482504"/>
              <a:chOff x="-824" y="-19050"/>
              <a:chExt cx="2467054" cy="1478026"/>
            </a:xfrm>
          </p:grpSpPr>
          <p:sp>
            <p:nvSpPr>
              <p:cNvPr id="25" name="Freeform 29">
                <a:extLst>
                  <a:ext uri="{FF2B5EF4-FFF2-40B4-BE49-F238E27FC236}">
                    <a16:creationId xmlns:a16="http://schemas.microsoft.com/office/drawing/2014/main" id="{94D07A97-87A6-CCF6-4199-121794EDCD5F}"/>
                  </a:ext>
                </a:extLst>
              </p:cNvPr>
              <p:cNvSpPr/>
              <p:nvPr/>
            </p:nvSpPr>
            <p:spPr>
              <a:xfrm>
                <a:off x="-824" y="29331"/>
                <a:ext cx="2467054" cy="1429645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6" name="TextBox 30">
                <a:extLst>
                  <a:ext uri="{FF2B5EF4-FFF2-40B4-BE49-F238E27FC236}">
                    <a16:creationId xmlns:a16="http://schemas.microsoft.com/office/drawing/2014/main" id="{E6714A15-66DE-7556-CA61-0384B9F416A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25262B4D-1DAE-C435-266D-8A3C1CAFD819}"/>
                </a:ext>
              </a:extLst>
            </p:cNvPr>
            <p:cNvSpPr txBox="1"/>
            <p:nvPr/>
          </p:nvSpPr>
          <p:spPr>
            <a:xfrm>
              <a:off x="304630" y="215255"/>
              <a:ext cx="11691819" cy="5888936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4" name="TextBox 38">
            <a:extLst>
              <a:ext uri="{FF2B5EF4-FFF2-40B4-BE49-F238E27FC236}">
                <a16:creationId xmlns:a16="http://schemas.microsoft.com/office/drawing/2014/main" id="{0C96891F-E831-00E9-B91D-D64E20877434}"/>
              </a:ext>
            </a:extLst>
          </p:cNvPr>
          <p:cNvSpPr txBox="1"/>
          <p:nvPr/>
        </p:nvSpPr>
        <p:spPr>
          <a:xfrm>
            <a:off x="-119125" y="1905628"/>
            <a:ext cx="7579319" cy="3906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Water quality varies significantly: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Conventional purification systems may not detect changing water-quality conditions in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real time. 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Invisible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contamination risk: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Users may receive water without knowing 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whether key quality parameters are within acceptable 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limits. 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No closed-loop response: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Existing systems generally separate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quality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monitoring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treatment and user alerts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, limiting timely intervention.</a:t>
            </a:r>
            <a:endParaRPr lang="en-US" sz="2550" dirty="0">
              <a:ea typeface="+mn-lt"/>
              <a:cs typeface="+mn-lt"/>
            </a:endParaRPr>
          </a:p>
          <a:p>
            <a:pPr marL="555625" lvl="1" indent="-277495" algn="l">
              <a:lnSpc>
                <a:spcPts val="3091"/>
              </a:lnSpc>
              <a:buFont typeface="Arial"/>
              <a:buChar char="•"/>
            </a:pPr>
            <a:endParaRPr lang="en-US" sz="2550" dirty="0">
              <a:solidFill>
                <a:srgbClr val="000000"/>
              </a:solidFill>
              <a:latin typeface="Times New Roman"/>
              <a:ea typeface="Times New Roman Bold"/>
              <a:cs typeface="Times New Roman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9C2077E7-D621-7EED-ED7D-8D3385FC38D4}"/>
              </a:ext>
            </a:extLst>
          </p:cNvPr>
          <p:cNvSpPr txBox="1"/>
          <p:nvPr/>
        </p:nvSpPr>
        <p:spPr>
          <a:xfrm>
            <a:off x="-957895" y="1479564"/>
            <a:ext cx="575001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  <a:endParaRPr lang="en-US" sz="3200" b="1" dirty="0">
              <a:solidFill>
                <a:srgbClr val="1F497D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  <p:sp>
        <p:nvSpPr>
          <p:cNvPr id="58" name="TextBox 36">
            <a:extLst>
              <a:ext uri="{FF2B5EF4-FFF2-40B4-BE49-F238E27FC236}">
                <a16:creationId xmlns:a16="http://schemas.microsoft.com/office/drawing/2014/main" id="{68020F22-9CF8-FE0C-1CD2-2DEDFB45DFAD}"/>
              </a:ext>
            </a:extLst>
          </p:cNvPr>
          <p:cNvSpPr txBox="1"/>
          <p:nvPr/>
        </p:nvSpPr>
        <p:spPr>
          <a:xfrm>
            <a:off x="11637553" y="5421328"/>
            <a:ext cx="466813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"/>
                <a:ea typeface="Calibri"/>
                <a:cs typeface="Times New Roman"/>
                <a:sym typeface="Arimo Bold"/>
              </a:rPr>
              <a:t>Innovation</a:t>
            </a:r>
            <a:r>
              <a:rPr lang="en-US" sz="3200" b="1" dirty="0">
                <a:solidFill>
                  <a:srgbClr val="1F497D"/>
                </a:solidFill>
                <a:latin typeface="Times New Roman"/>
                <a:ea typeface="+mn-lt"/>
                <a:cs typeface="Times New Roman"/>
                <a:sym typeface="Arimo Bold"/>
              </a:rPr>
              <a:t> / Uniqueness</a:t>
            </a:r>
          </a:p>
        </p:txBody>
      </p:sp>
      <p:sp>
        <p:nvSpPr>
          <p:cNvPr id="60" name="TextBox 39">
            <a:extLst>
              <a:ext uri="{FF2B5EF4-FFF2-40B4-BE49-F238E27FC236}">
                <a16:creationId xmlns:a16="http://schemas.microsoft.com/office/drawing/2014/main" id="{A11A8590-4F94-FE51-D6A9-26EE75BF3B70}"/>
              </a:ext>
            </a:extLst>
          </p:cNvPr>
          <p:cNvSpPr txBox="1"/>
          <p:nvPr/>
        </p:nvSpPr>
        <p:spPr>
          <a:xfrm>
            <a:off x="11719706" y="5885850"/>
            <a:ext cx="6410117" cy="3831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Closed-Loop</a:t>
            </a: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Purification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Sense → Treat → Re-check → Deliver/Reject</a:t>
            </a:r>
            <a:endParaRPr lang="en-US" sz="25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Real-Time </a:t>
            </a: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Automation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Treatment &amp; water flow based on sensor readings.</a:t>
            </a:r>
            <a:endParaRPr lang="en-US" sz="2400" dirty="0"/>
          </a:p>
          <a:p>
            <a:pPr>
              <a:buFont typeface="Arial"/>
              <a:buChar char="•"/>
            </a:pPr>
            <a:endParaRPr lang="en-US" sz="8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Safety-Based Rejection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Unsafe water →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Auto-divert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+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Alert</a:t>
            </a:r>
            <a:endParaRPr lang="en-US" dirty="0">
              <a:sym typeface="Times New Roman"/>
            </a:endParaRPr>
          </a:p>
          <a:p>
            <a:pPr>
              <a:buFont typeface="Arial"/>
              <a:buChar char="•"/>
            </a:pPr>
            <a:endParaRPr lang="en-US" sz="8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Integrated Monitoring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Sensors + Treatment + Alerts + Data Logging</a:t>
            </a:r>
            <a:endParaRPr lang="en-US" dirty="0">
              <a:solidFill>
                <a:srgbClr val="000000"/>
              </a:solidFill>
              <a:ea typeface="+mn-lt"/>
              <a:cs typeface="+mn-lt"/>
              <a:sym typeface="Times New Roman Bold"/>
            </a:endParaRPr>
          </a:p>
          <a:p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  (in one system).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65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99256" y="-21998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25334" y="9739312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96831" y="9739312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2391499" cy="1274539"/>
          </a:xfrm>
          <a:custGeom>
            <a:avLst/>
            <a:gdLst/>
            <a:ahLst/>
            <a:cxnLst/>
            <a:rect l="l" t="t" r="r" b="b"/>
            <a:pathLst>
              <a:path w="2391499" h="1274539">
                <a:moveTo>
                  <a:pt x="0" y="0"/>
                </a:moveTo>
                <a:lnTo>
                  <a:pt x="2391499" y="0"/>
                </a:lnTo>
                <a:lnTo>
                  <a:pt x="2391499" y="1274539"/>
                </a:lnTo>
                <a:lnTo>
                  <a:pt x="0" y="1274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9290" y="1259346"/>
            <a:ext cx="13735081" cy="7998954"/>
          </a:xfrm>
          <a:custGeom>
            <a:avLst/>
            <a:gdLst/>
            <a:ahLst/>
            <a:cxnLst/>
            <a:rect l="l" t="t" r="r" b="b"/>
            <a:pathLst>
              <a:path w="13735081" h="7998954">
                <a:moveTo>
                  <a:pt x="0" y="0"/>
                </a:moveTo>
                <a:lnTo>
                  <a:pt x="13735081" y="0"/>
                </a:lnTo>
                <a:lnTo>
                  <a:pt x="13735081" y="7998954"/>
                </a:lnTo>
                <a:lnTo>
                  <a:pt x="0" y="7998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055" r="-326" b="-791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5350403" y="2248"/>
            <a:ext cx="2694500" cy="1272291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898731" y="1668055"/>
            <a:ext cx="4180532" cy="6983298"/>
            <a:chOff x="0" y="0"/>
            <a:chExt cx="5574043" cy="9311064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574043" cy="9311064"/>
              <a:chOff x="0" y="0"/>
              <a:chExt cx="1101045" cy="18392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01045" cy="1839222"/>
              </a:xfrm>
              <a:custGeom>
                <a:avLst/>
                <a:gdLst/>
                <a:ahLst/>
                <a:cxnLst/>
                <a:rect l="l" t="t" r="r" b="b"/>
                <a:pathLst>
                  <a:path w="1101045" h="1839222">
                    <a:moveTo>
                      <a:pt x="27778" y="0"/>
                    </a:moveTo>
                    <a:lnTo>
                      <a:pt x="1073267" y="0"/>
                    </a:lnTo>
                    <a:cubicBezTo>
                      <a:pt x="1080634" y="0"/>
                      <a:pt x="1087700" y="2927"/>
                      <a:pt x="1092909" y="8136"/>
                    </a:cubicBezTo>
                    <a:cubicBezTo>
                      <a:pt x="1098119" y="13346"/>
                      <a:pt x="1101045" y="20411"/>
                      <a:pt x="1101045" y="27778"/>
                    </a:cubicBezTo>
                    <a:lnTo>
                      <a:pt x="1101045" y="1811444"/>
                    </a:lnTo>
                    <a:cubicBezTo>
                      <a:pt x="1101045" y="1818811"/>
                      <a:pt x="1098119" y="1825877"/>
                      <a:pt x="1092909" y="1831086"/>
                    </a:cubicBezTo>
                    <a:cubicBezTo>
                      <a:pt x="1087700" y="1836296"/>
                      <a:pt x="1080634" y="1839222"/>
                      <a:pt x="1073267" y="1839222"/>
                    </a:cubicBezTo>
                    <a:lnTo>
                      <a:pt x="27778" y="1839222"/>
                    </a:lnTo>
                    <a:cubicBezTo>
                      <a:pt x="20411" y="1839222"/>
                      <a:pt x="13346" y="1836296"/>
                      <a:pt x="8136" y="1831086"/>
                    </a:cubicBezTo>
                    <a:cubicBezTo>
                      <a:pt x="2927" y="1825877"/>
                      <a:pt x="0" y="1818811"/>
                      <a:pt x="0" y="1811444"/>
                    </a:cubicBezTo>
                    <a:lnTo>
                      <a:pt x="0" y="27778"/>
                    </a:lnTo>
                    <a:cubicBezTo>
                      <a:pt x="0" y="20411"/>
                      <a:pt x="2927" y="13346"/>
                      <a:pt x="8136" y="8136"/>
                    </a:cubicBezTo>
                    <a:cubicBezTo>
                      <a:pt x="13346" y="2927"/>
                      <a:pt x="20411" y="0"/>
                      <a:pt x="277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1101045" cy="1858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38477" y="456926"/>
              <a:ext cx="5314790" cy="8348794"/>
              <a:chOff x="0" y="0"/>
              <a:chExt cx="997597" cy="156708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97597" cy="1567086"/>
              </a:xfrm>
              <a:custGeom>
                <a:avLst/>
                <a:gdLst/>
                <a:ahLst/>
                <a:cxnLst/>
                <a:rect l="l" t="t" r="r" b="b"/>
                <a:pathLst>
                  <a:path w="997597" h="1567086">
                    <a:moveTo>
                      <a:pt x="1942" y="0"/>
                    </a:moveTo>
                    <a:lnTo>
                      <a:pt x="995655" y="0"/>
                    </a:lnTo>
                    <a:cubicBezTo>
                      <a:pt x="996170" y="0"/>
                      <a:pt x="996664" y="205"/>
                      <a:pt x="997028" y="569"/>
                    </a:cubicBezTo>
                    <a:cubicBezTo>
                      <a:pt x="997392" y="933"/>
                      <a:pt x="997597" y="1427"/>
                      <a:pt x="997597" y="1942"/>
                    </a:cubicBezTo>
                    <a:lnTo>
                      <a:pt x="997597" y="1565143"/>
                    </a:lnTo>
                    <a:cubicBezTo>
                      <a:pt x="997597" y="1565658"/>
                      <a:pt x="997392" y="1566152"/>
                      <a:pt x="997028" y="1566517"/>
                    </a:cubicBezTo>
                    <a:cubicBezTo>
                      <a:pt x="996664" y="1566881"/>
                      <a:pt x="996170" y="1567086"/>
                      <a:pt x="995655" y="1567086"/>
                    </a:cubicBezTo>
                    <a:lnTo>
                      <a:pt x="1942" y="1567086"/>
                    </a:lnTo>
                    <a:cubicBezTo>
                      <a:pt x="870" y="1567086"/>
                      <a:pt x="0" y="1566216"/>
                      <a:pt x="0" y="1565143"/>
                    </a:cubicBezTo>
                    <a:lnTo>
                      <a:pt x="0" y="1942"/>
                    </a:lnTo>
                    <a:cubicBezTo>
                      <a:pt x="0" y="1427"/>
                      <a:pt x="205" y="933"/>
                      <a:pt x="569" y="569"/>
                    </a:cubicBezTo>
                    <a:cubicBezTo>
                      <a:pt x="933" y="205"/>
                      <a:pt x="1427" y="0"/>
                      <a:pt x="19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997597" cy="1586136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sp>
        <p:nvSpPr>
          <p:cNvPr id="24" name="Freeform 24"/>
          <p:cNvSpPr/>
          <p:nvPr/>
        </p:nvSpPr>
        <p:spPr>
          <a:xfrm>
            <a:off x="11802831" y="4681758"/>
            <a:ext cx="1732791" cy="923484"/>
          </a:xfrm>
          <a:custGeom>
            <a:avLst/>
            <a:gdLst/>
            <a:ahLst/>
            <a:cxnLst/>
            <a:rect l="l" t="t" r="r" b="b"/>
            <a:pathLst>
              <a:path w="1732791" h="923484">
                <a:moveTo>
                  <a:pt x="0" y="0"/>
                </a:moveTo>
                <a:lnTo>
                  <a:pt x="1732792" y="0"/>
                </a:lnTo>
                <a:lnTo>
                  <a:pt x="1732792" y="923484"/>
                </a:lnTo>
                <a:lnTo>
                  <a:pt x="0" y="9234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7000"/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898731" y="2654641"/>
            <a:ext cx="4047540" cy="567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→ AI RISK IMD/Weather APIs + satellite/radar + historical data → real-time ingestion → ML-based localized hazard &amp; impact prediction with Explainable AI (XAI).</a:t>
            </a:r>
          </a:p>
          <a:p>
            <a:pPr algn="l">
              <a:lnSpc>
                <a:spcPts val="1560"/>
              </a:lnSpc>
            </a:pPr>
            <a:endParaRPr lang="en-US" sz="1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→ INTELLIGENCE RAG knowledge base + Large Language Model (LLM) combines predicted risk with verified weather bulletins/advisories to generate contextual, trustworthy responses.</a:t>
            </a:r>
          </a:p>
          <a:p>
            <a:pPr algn="l">
              <a:lnSpc>
                <a:spcPts val="1320"/>
              </a:lnSpc>
            </a:pPr>
            <a:endParaRPr lang="en-US" sz="1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→ ACTION Live dashboard + multilingual location-aware chatbot + alerts deliver risk maps, explainable warnings and actionable guidance to citizens and authorities.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65739" y="1926943"/>
            <a:ext cx="418053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TECHNICAL APPROACH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958904" y="1494520"/>
            <a:ext cx="2391499" cy="1274539"/>
          </a:xfrm>
          <a:custGeom>
            <a:avLst/>
            <a:gdLst/>
            <a:ahLst/>
            <a:cxnLst/>
            <a:rect l="l" t="t" r="r" b="b"/>
            <a:pathLst>
              <a:path w="2391499" h="1274539">
                <a:moveTo>
                  <a:pt x="0" y="0"/>
                </a:moveTo>
                <a:lnTo>
                  <a:pt x="2391499" y="0"/>
                </a:lnTo>
                <a:lnTo>
                  <a:pt x="2391499" y="1274539"/>
                </a:lnTo>
                <a:lnTo>
                  <a:pt x="0" y="1274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00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0478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627394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739312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367276" y="1688724"/>
            <a:ext cx="18715639" cy="6586620"/>
          </a:xfrm>
          <a:custGeom>
            <a:avLst/>
            <a:gdLst/>
            <a:ahLst/>
            <a:cxnLst/>
            <a:rect l="l" t="t" r="r" b="b"/>
            <a:pathLst>
              <a:path w="18715639" h="6586620">
                <a:moveTo>
                  <a:pt x="0" y="0"/>
                </a:moveTo>
                <a:lnTo>
                  <a:pt x="18715640" y="0"/>
                </a:lnTo>
                <a:lnTo>
                  <a:pt x="18715640" y="6586621"/>
                </a:lnTo>
                <a:lnTo>
                  <a:pt x="0" y="6586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9824" b="-3000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168917" y="8272963"/>
            <a:ext cx="12891375" cy="1259180"/>
          </a:xfrm>
          <a:custGeom>
            <a:avLst/>
            <a:gdLst/>
            <a:ahLst/>
            <a:cxnLst/>
            <a:rect l="l" t="t" r="r" b="b"/>
            <a:pathLst>
              <a:path w="12891375" h="1259180">
                <a:moveTo>
                  <a:pt x="0" y="0"/>
                </a:moveTo>
                <a:lnTo>
                  <a:pt x="12891375" y="0"/>
                </a:lnTo>
                <a:lnTo>
                  <a:pt x="12891375" y="1259181"/>
                </a:lnTo>
                <a:lnTo>
                  <a:pt x="0" y="12591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048" t="-711071" r="-26780" b="-6904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00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1159" y="1424869"/>
            <a:ext cx="5880623" cy="7833431"/>
          </a:xfrm>
          <a:custGeom>
            <a:avLst/>
            <a:gdLst/>
            <a:ahLst/>
            <a:cxnLst/>
            <a:rect l="l" t="t" r="r" b="b"/>
            <a:pathLst>
              <a:path w="5880623" h="7833431">
                <a:moveTo>
                  <a:pt x="0" y="0"/>
                </a:moveTo>
                <a:lnTo>
                  <a:pt x="5880623" y="0"/>
                </a:lnTo>
                <a:lnTo>
                  <a:pt x="5880623" y="7833431"/>
                </a:lnTo>
                <a:lnTo>
                  <a:pt x="0" y="7833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82761" b="-19402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6754403" y="1643063"/>
            <a:ext cx="9769141" cy="3467929"/>
          </a:xfrm>
          <a:custGeom>
            <a:avLst/>
            <a:gdLst/>
            <a:ahLst/>
            <a:cxnLst/>
            <a:rect l="l" t="t" r="r" b="b"/>
            <a:pathLst>
              <a:path w="9769141" h="3467929">
                <a:moveTo>
                  <a:pt x="0" y="0"/>
                </a:moveTo>
                <a:lnTo>
                  <a:pt x="9769141" y="0"/>
                </a:lnTo>
                <a:lnTo>
                  <a:pt x="9769141" y="3467928"/>
                </a:lnTo>
                <a:lnTo>
                  <a:pt x="0" y="3467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006" t="-1145" r="-643" b="-14865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6862305" y="5455505"/>
            <a:ext cx="4915996" cy="3732124"/>
          </a:xfrm>
          <a:custGeom>
            <a:avLst/>
            <a:gdLst/>
            <a:ahLst/>
            <a:cxnLst/>
            <a:rect l="l" t="t" r="r" b="b"/>
            <a:pathLst>
              <a:path w="4915996" h="3732124">
                <a:moveTo>
                  <a:pt x="0" y="0"/>
                </a:moveTo>
                <a:lnTo>
                  <a:pt x="4915996" y="0"/>
                </a:lnTo>
                <a:lnTo>
                  <a:pt x="4915996" y="3732124"/>
                </a:lnTo>
                <a:lnTo>
                  <a:pt x="0" y="3732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283" t="-91661" r="-100000" b="-4046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id="19" name="Group 19"/>
          <p:cNvGrpSpPr/>
          <p:nvPr/>
        </p:nvGrpSpPr>
        <p:grpSpPr>
          <a:xfrm>
            <a:off x="11887629" y="5455505"/>
            <a:ext cx="6157274" cy="3732124"/>
            <a:chOff x="0" y="0"/>
            <a:chExt cx="1621669" cy="9829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21669" cy="982946"/>
            </a:xfrm>
            <a:custGeom>
              <a:avLst/>
              <a:gdLst/>
              <a:ahLst/>
              <a:cxnLst/>
              <a:rect l="l" t="t" r="r" b="b"/>
              <a:pathLst>
                <a:path w="1621669" h="982946">
                  <a:moveTo>
                    <a:pt x="18860" y="0"/>
                  </a:moveTo>
                  <a:lnTo>
                    <a:pt x="1602809" y="0"/>
                  </a:lnTo>
                  <a:cubicBezTo>
                    <a:pt x="1613225" y="0"/>
                    <a:pt x="1621669" y="8444"/>
                    <a:pt x="1621669" y="18860"/>
                  </a:cubicBezTo>
                  <a:lnTo>
                    <a:pt x="1621669" y="964086"/>
                  </a:lnTo>
                  <a:cubicBezTo>
                    <a:pt x="1621669" y="974502"/>
                    <a:pt x="1613225" y="982946"/>
                    <a:pt x="1602809" y="982946"/>
                  </a:cubicBezTo>
                  <a:lnTo>
                    <a:pt x="18860" y="982946"/>
                  </a:lnTo>
                  <a:cubicBezTo>
                    <a:pt x="8444" y="982946"/>
                    <a:pt x="0" y="974502"/>
                    <a:pt x="0" y="964086"/>
                  </a:cubicBezTo>
                  <a:lnTo>
                    <a:pt x="0" y="18860"/>
                  </a:lnTo>
                  <a:cubicBezTo>
                    <a:pt x="0" y="8444"/>
                    <a:pt x="8444" y="0"/>
                    <a:pt x="188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621669" cy="1001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992299" y="5886181"/>
            <a:ext cx="5947935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Safer Communities: Earlier warnings, faster preparedness.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Smarter Decisions:  Real-time risk insights for authorities.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Inclusive Access: Multilingual, localized AI guidance.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Losses : Reduced disaster damage &amp; recovery costs.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Resilience: Better preparedness for future hazards.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Impact: One platform across regions &amp; hazards.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30726" y="5582425"/>
            <a:ext cx="1297322" cy="322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8"/>
              </a:lnSpc>
              <a:spcBef>
                <a:spcPct val="0"/>
              </a:spcBef>
            </a:pPr>
            <a:r>
              <a:rPr lang="en-US" sz="206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4219565"/>
            <a:ext cx="13895070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31527" y="1633537"/>
            <a:ext cx="16315983" cy="409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  <a:p>
            <a:pPr algn="l">
              <a:lnSpc>
                <a:spcPts val="2999"/>
              </a:lnSpc>
            </a:pPr>
            <a:endParaRPr lang="en-US" sz="2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Hassan et al., “Machine Learning-Based Rainfall Prediction: Unveiling Insights and Forecasting for Improved Preparedness,” IEEE Access, 2023.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ML-based rainfall prediction for proactive preparedness, supporting our AI risk-prediction layer. (Mendeley)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Xplore- Research Paper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“Prediction of Flooding Due to Heavy Rainfall in India Using Machine Learning Algorithms: Providing Advanced Warning,” IEEE, 2022.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ML + rainfall data for flood prediction and advanced warning, directly supporting our impact-based early-warning approach. (ieeexplore.ieee.org)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Xplore- Research Paper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7" y="6506766"/>
            <a:ext cx="16824945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NEWS / ARTICLES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India Faces Weakest Monsoon in Nearly Two Decades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Highlights the real-world impact of rainfall variability on agriculture, food prices and rural livelihoods.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Reuters Article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India’s Capital: Extreme Heat to Heavy Floods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Demonstrates the need for timely, localized weather intelligence and preparedness during rapidly changing extreme-weather events.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Reuters Article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8575" y="2657970"/>
            <a:ext cx="18345150" cy="6535950"/>
            <a:chOff x="0" y="0"/>
            <a:chExt cx="24460200" cy="8714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0200" cy="8714613"/>
            </a:xfrm>
            <a:custGeom>
              <a:avLst/>
              <a:gdLst/>
              <a:ahLst/>
              <a:cxnLst/>
              <a:rect l="l" t="t" r="r" b="b"/>
              <a:pathLst>
                <a:path w="24460200" h="8714613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43176" y="2928404"/>
            <a:ext cx="17464249" cy="600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88632" lvl="1" indent="-244316" algn="just">
              <a:lnSpc>
                <a:spcPts val="2916"/>
              </a:lnSpc>
            </a:pP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81501" y="177746"/>
            <a:ext cx="12432925" cy="9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953" y="1828095"/>
            <a:ext cx="14153607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Code Show </dc:title>
  <cp:revision>352</cp:revision>
  <dcterms:created xsi:type="dcterms:W3CDTF">2006-08-16T00:00:00Z</dcterms:created>
  <dcterms:modified xsi:type="dcterms:W3CDTF">2026-09-07T04:43:47Z</dcterms:modified>
  <dc:identifier>DAHTstSq_E8</dc:identifier>
</cp:coreProperties>
</file>